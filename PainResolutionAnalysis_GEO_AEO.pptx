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Yu Gothic"/>
              </a:rPr>
              <a:t>ベンチマーク3社は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471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Yu Gothic"/>
              </a:rPr>
              <a:t>「Top 5ペイン」をどこまで解決するか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E8EEF7"/>
                </a:solidFill>
                <a:latin typeface="Yu Gothic"/>
              </a:rPr>
              <a:t>Profound / Peec AI / Passionfruit Labs ─ 解決度・残存ペイン・ホワイトスペース分析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FFF8E0"/>
                </a:solidFill>
                <a:latin typeface="Yu Gothic"/>
              </a:rPr>
              <a:t>結論: 完全解決は約4割、残り6割は形を変えて残存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E8EEF7"/>
                </a:solidFill>
                <a:latin typeface="Yu Gothic"/>
              </a:rPr>
              <a:t>2026年5月 作成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4712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全体マップ:解決度評価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0">
                <a:solidFill>
                  <a:srgbClr val="E8EEF7"/>
                </a:solidFill>
                <a:latin typeface="Yu Gothic"/>
              </a:rPr>
              <a:t>5ペイン × 3ツールのマトリクス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887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全体マップ：解決度評価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凡例: ◎=ほぼ解決 / ○=部分解決 / △=表面的 / ✕=未解決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310896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68680"/>
            <a:ext cx="3108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Top 5 ペイン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868680"/>
            <a:ext cx="128016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868680"/>
            <a:ext cx="12801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Profound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868680"/>
            <a:ext cx="128016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868680"/>
            <a:ext cx="12801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Peec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868680"/>
            <a:ext cx="155448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868680"/>
            <a:ext cx="1554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Passionfruit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0" y="868680"/>
            <a:ext cx="438912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868680"/>
            <a:ext cx="43891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共通残存ペイン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371600"/>
            <a:ext cx="3108960" cy="77724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71600"/>
            <a:ext cx="31089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1. 時間消費が桁違い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37160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371600"/>
            <a:ext cx="12801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2E5C8A"/>
                </a:solidFill>
                <a:latin typeface="Yu Gothic"/>
              </a:rPr>
              <a:t>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37160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1371600"/>
            <a:ext cx="12801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2E5C8A"/>
                </a:solidFill>
                <a:latin typeface="Yu Gothic"/>
              </a:rPr>
              <a:t>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371600"/>
            <a:ext cx="1554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1371600"/>
            <a:ext cx="15544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2E5C8A"/>
                </a:solidFill>
                <a:latin typeface="Yu Gothic"/>
              </a:rPr>
              <a:t>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1371600"/>
            <a:ext cx="4389120" cy="777240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1371600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戦略・解釈・改修工数は残る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148840"/>
            <a:ext cx="3108960" cy="77724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148840"/>
            <a:ext cx="31089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2. 属人化・知識流出リスク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214884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2148840"/>
            <a:ext cx="12801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2E5C8A"/>
                </a:solidFill>
                <a:latin typeface="Yu Gothic"/>
              </a:rPr>
              <a:t>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14884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2148840"/>
            <a:ext cx="12801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C96E29"/>
                </a:solidFill>
                <a:latin typeface="Yu Gothic"/>
              </a:rPr>
              <a:t>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148840"/>
            <a:ext cx="1554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2148840"/>
            <a:ext cx="15544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C96E29"/>
                </a:solidFill>
                <a:latin typeface="Yu Gothic"/>
              </a:rPr>
              <a:t>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0" y="2148840"/>
            <a:ext cx="4389120" cy="777240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0" y="2148840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「なぜそのプロンプトか」の文脈は人依存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926080"/>
            <a:ext cx="3108960" cy="77724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2926080"/>
            <a:ext cx="31089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3. ノイズ vs シグナル分離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0" y="292608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80" y="2926080"/>
            <a:ext cx="12801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C96E29"/>
                </a:solidFill>
                <a:latin typeface="Yu Gothic"/>
              </a:rPr>
              <a:t>△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292608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2926080"/>
            <a:ext cx="12801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C96E29"/>
                </a:solidFill>
                <a:latin typeface="Yu Gothic"/>
              </a:rPr>
              <a:t>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2926080"/>
            <a:ext cx="1554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2926080"/>
            <a:ext cx="15544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C96E29"/>
                </a:solidFill>
                <a:latin typeface="Yu Gothic"/>
              </a:rPr>
              <a:t>△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0" y="2926080"/>
            <a:ext cx="4389120" cy="777240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0" y="2926080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3社とも統計的処理は未実装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703320"/>
            <a:ext cx="3108960" cy="77724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3703320"/>
            <a:ext cx="31089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4. 経営/クライアント説得力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83280" y="370332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83280" y="3703320"/>
            <a:ext cx="12801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2E5C8A"/>
                </a:solidFill>
                <a:latin typeface="Yu Gothic"/>
              </a:rPr>
              <a:t>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370332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40" y="3703320"/>
            <a:ext cx="12801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C96E29"/>
                </a:solidFill>
                <a:latin typeface="Yu Gothic"/>
              </a:rPr>
              <a:t>△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3703320"/>
            <a:ext cx="1554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0" y="3703320"/>
            <a:ext cx="15544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2E5C8A"/>
                </a:solidFill>
                <a:latin typeface="Yu Gothic"/>
              </a:rPr>
              <a:t>○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80" y="3703320"/>
            <a:ext cx="4389120" cy="777240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98080" y="3703320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自動3行サマリ・業界ベンチは未搭載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480560"/>
            <a:ext cx="3108960" cy="77724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4480560"/>
            <a:ext cx="31089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5. スケール壁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83280" y="448056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83280" y="4480560"/>
            <a:ext cx="12801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2E7A4E"/>
                </a:solidFill>
                <a:latin typeface="Yu Gothic"/>
              </a:rPr>
              <a:t>◎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63440" y="448056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63440" y="4480560"/>
            <a:ext cx="12801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2E7A4E"/>
                </a:solidFill>
                <a:latin typeface="Yu Gothic"/>
              </a:rPr>
              <a:t>◎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0" y="4480560"/>
            <a:ext cx="1554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0" y="4480560"/>
            <a:ext cx="15544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2E5C8A"/>
                </a:solidFill>
                <a:latin typeface="Yu Gothic"/>
              </a:rPr>
              <a:t>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98080" y="4480560"/>
            <a:ext cx="4389120" cy="777240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98080" y="4480560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日本語LLM・多言語は Peec が突出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394960"/>
            <a:ext cx="11612880" cy="411480"/>
          </a:xfrm>
          <a:prstGeom prst="rect">
            <a:avLst/>
          </a:prstGeom>
          <a:solidFill>
            <a:srgbClr val="FFF8E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5394960"/>
            <a:ext cx="116128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B03A2E"/>
                </a:solidFill>
                <a:latin typeface="Yu Gothic"/>
              </a:rPr>
              <a:t>★ Pain 3「ノイズ vs シグナル分離」は3社すべて△=業界全体の未開拓領域、ホワイトスペースとして最有望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4712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ペイン別 詳細分析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0">
                <a:solidFill>
                  <a:srgbClr val="E8EEF7"/>
                </a:solidFill>
                <a:latin typeface="Yu Gothic"/>
              </a:rPr>
              <a:t>Pain 1〜5を観点別に深掘り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887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Pain 1: 時間消費が桁違い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手作業1,500時間/年クラスのデータ収集と運用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37160" cy="62636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観点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822960"/>
            <a:ext cx="246888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822960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Profound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822960"/>
            <a:ext cx="246888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822960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Peec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822960"/>
            <a:ext cx="246888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822960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Passionfruit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280160"/>
            <a:ext cx="4114800" cy="859535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280160"/>
            <a:ext cx="411480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データ収集の自動化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28016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28016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7A4E"/>
                </a:solidFill>
                <a:latin typeface="Yu Gothic"/>
              </a:rPr>
              <a:t>◎ 10+モデル毎日自動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128016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128016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7A4E"/>
                </a:solidFill>
                <a:latin typeface="Yu Gothic"/>
              </a:rPr>
              <a:t>◎ UIスクレイピング 24h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128016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28016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7A4E"/>
                </a:solidFill>
                <a:latin typeface="Yu Gothic"/>
              </a:rPr>
              <a:t>◎ 5モデル自動実行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139695"/>
            <a:ext cx="4114800" cy="859535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139695"/>
            <a:ext cx="411480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プロンプト初期設計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2139695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2139695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5C8A"/>
                </a:solidFill>
                <a:latin typeface="Yu Gothic"/>
              </a:rPr>
              <a:t>○ CSMガイド(4週間)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139695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139695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 自助/テンプレ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2139695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2139695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 自助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999230"/>
            <a:ext cx="4114800" cy="859535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999230"/>
            <a:ext cx="411480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コンテンツ改修工数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299923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299923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 測定するが改修しない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99923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299923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 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299923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299923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E5C8A"/>
                </a:solidFill>
                <a:latin typeface="Yu Gothic"/>
              </a:rPr>
              <a:t>○ Agentic Recommendations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858765"/>
            <a:ext cx="4114800" cy="859535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3858765"/>
            <a:ext cx="411480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レポートコメント執筆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3858765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3858765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 ダッシュボード提示まで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3858765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3858765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 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3858765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3858765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 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718300"/>
            <a:ext cx="4114800" cy="859535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4718300"/>
            <a:ext cx="411480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戦略立案・解釈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471830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0" y="471830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03A2E"/>
                </a:solidFill>
                <a:latin typeface="Yu Gothic"/>
              </a:rPr>
              <a:t>✕ 人が解釈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0" y="471830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471830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03A2E"/>
                </a:solidFill>
                <a:latin typeface="Yu Gothic"/>
              </a:rPr>
              <a:t>✕ 人が解釈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26880" y="471830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0" y="471830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03A2E"/>
                </a:solidFill>
                <a:latin typeface="Yu Gothic"/>
              </a:rPr>
              <a:t>✕ 人が解釈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714995"/>
            <a:ext cx="11612880" cy="1005840"/>
          </a:xfrm>
          <a:prstGeom prst="rect">
            <a:avLst/>
          </a:prstGeom>
          <a:solidFill>
            <a:srgbClr val="FFF8E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5714995"/>
            <a:ext cx="1161288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Yu Gothic"/>
              </a:rPr>
              <a:t>◆ 実態:測定の自動化(年700〜1,000h削減)は実現するが、コンテンツ改修・PR・経営報告の作文は残る(年500〜700h)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Yu Gothic"/>
              </a:rPr>
              <a:t>◆ 残存ペイン: 戦略・解釈・改修・レポート作文という「人が考える部分」は依然手作業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887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Pain 2: 属人化・知識流出リスク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担当者の休暇・退職で運用停止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37160" cy="62636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観点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822960"/>
            <a:ext cx="246888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822960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Profound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822960"/>
            <a:ext cx="246888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822960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Peec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822960"/>
            <a:ext cx="246888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822960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Passionfruit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280160"/>
            <a:ext cx="4114800" cy="859535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280160"/>
            <a:ext cx="411480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データ・ダッシュボード永続化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28016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28016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7A4E"/>
                </a:solidFill>
                <a:latin typeface="Yu Gothic"/>
              </a:rPr>
              <a:t>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128016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128016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7A4E"/>
                </a:solidFill>
                <a:latin typeface="Yu Gothic"/>
              </a:rPr>
              <a:t>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128016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28016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7A4E"/>
                </a:solidFill>
                <a:latin typeface="Yu Gothic"/>
              </a:rPr>
              <a:t>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139695"/>
            <a:ext cx="4114800" cy="859535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139695"/>
            <a:ext cx="411480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「なぜこのプロンプトか」の文脈記録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2139695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2139695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 コメント機能のみ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139695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139695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 プロンプトタグのみ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2139695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2139695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999230"/>
            <a:ext cx="4114800" cy="859535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999230"/>
            <a:ext cx="411480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改修ロジック・勝ちパターン共有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299923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299923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99923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299923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299923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299923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858765"/>
            <a:ext cx="4114800" cy="859535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3858765"/>
            <a:ext cx="411480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新人オンボーディング教材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3858765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3858765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E5C8A"/>
                </a:solidFill>
                <a:latin typeface="Yu Gothic"/>
              </a:rPr>
              <a:t>○ Profound Academy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3858765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3858765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 Docsのみ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3858765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3858765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 Docsのみ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718300"/>
            <a:ext cx="4114800" cy="859535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4718300"/>
            <a:ext cx="411480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退職時の引継ぎSOP生成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471830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0" y="471830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03A2E"/>
                </a:solidFill>
                <a:latin typeface="Yu Gothic"/>
              </a:rPr>
              <a:t>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0" y="471830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471830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03A2E"/>
                </a:solidFill>
                <a:latin typeface="Yu Gothic"/>
              </a:rPr>
              <a:t>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26880" y="471830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0" y="471830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03A2E"/>
                </a:solidFill>
                <a:latin typeface="Yu Gothic"/>
              </a:rPr>
              <a:t>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714995"/>
            <a:ext cx="11612880" cy="1005840"/>
          </a:xfrm>
          <a:prstGeom prst="rect">
            <a:avLst/>
          </a:prstGeom>
          <a:solidFill>
            <a:srgbClr val="FFF8E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5714995"/>
            <a:ext cx="1161288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Yu Gothic"/>
              </a:rPr>
              <a:t>◆ 実態: データそのものは残るが、「どの数字を、なぜ、どう解釈するか」のナレッジは個人脳内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Yu Gothic"/>
              </a:rPr>
              <a:t>◆ 残存ペイン: 戦略文脈・改修判断ロジック・社内SOPは依然属人的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887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Pain 3: ノイズ vs シグナル分離不能 ★最大の未解決領域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LLM揺らぎを「変化」と誤検知 or 本物の変化を見逃し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37160" cy="626364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観点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822960"/>
            <a:ext cx="246888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822960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Profound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822960"/>
            <a:ext cx="246888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822960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Peec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822960"/>
            <a:ext cx="246888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822960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Passionfruit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280160"/>
            <a:ext cx="4114800" cy="859535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280160"/>
            <a:ext cx="411480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統計的信頼区間の提示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28016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28016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03A2E"/>
                </a:solidFill>
                <a:latin typeface="Yu Gothic"/>
              </a:rPr>
              <a:t>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128016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128016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03A2E"/>
                </a:solidFill>
                <a:latin typeface="Yu Gothic"/>
              </a:rPr>
              <a:t>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128016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28016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03A2E"/>
                </a:solidFill>
                <a:latin typeface="Yu Gothic"/>
              </a:rPr>
              <a:t>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139695"/>
            <a:ext cx="4114800" cy="859535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139695"/>
            <a:ext cx="411480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モデル仕様変更の検知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2139695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2139695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 ログのみ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139695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139695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2139695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2139695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999230"/>
            <a:ext cx="4114800" cy="859535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999230"/>
            <a:ext cx="411480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同一プロンプトの複数回実行で揺らぎ吸収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299923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299923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 1日1回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99923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299923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 1日1回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299923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299923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858765"/>
            <a:ext cx="4114800" cy="859535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3858765"/>
            <a:ext cx="411480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アラート閾値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3858765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3858765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5C8A"/>
                </a:solidFill>
                <a:latin typeface="Yu Gothic"/>
              </a:rPr>
              <a:t>○ ユーザー設定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3858765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3858765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5C8A"/>
                </a:solidFill>
                <a:latin typeface="Yu Gothic"/>
              </a:rPr>
              <a:t>○ 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3858765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3858765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5C8A"/>
                </a:solidFill>
                <a:latin typeface="Yu Gothic"/>
              </a:rPr>
              <a:t>○ 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718300"/>
            <a:ext cx="4114800" cy="859535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4718300"/>
            <a:ext cx="411480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「本物の変化」AI判定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471830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0" y="471830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03A2E"/>
                </a:solidFill>
                <a:latin typeface="Yu Gothic"/>
              </a:rPr>
              <a:t>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0" y="471830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471830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03A2E"/>
                </a:solidFill>
                <a:latin typeface="Yu Gothic"/>
              </a:rPr>
              <a:t>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26880" y="4718300"/>
            <a:ext cx="2468880" cy="859535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0" y="4718300"/>
            <a:ext cx="2468880" cy="859535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03A2E"/>
                </a:solidFill>
                <a:latin typeface="Yu Gothic"/>
              </a:rPr>
              <a:t>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714995"/>
            <a:ext cx="11612880" cy="1005840"/>
          </a:xfrm>
          <a:prstGeom prst="rect">
            <a:avLst/>
          </a:prstGeom>
          <a:solidFill>
            <a:srgbClr val="FFF8E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5714995"/>
            <a:ext cx="1161288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Yu Gothic"/>
              </a:rPr>
              <a:t>◆ 実態: LLM評価研究(Ai2 Signal/Noise framework等)は活発だが、3社とも商用に未実装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Yu Gothic"/>
              </a:rPr>
              <a:t>◆ 残存ペイン: 業界全体の未開拓領域。あなたのプロダクトの差別化候補として最有望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887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Pain 4: 経営/クライアント説得力の欠如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ROI証明・予算獲得・解約防止に直結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37160" cy="62636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観点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822960"/>
            <a:ext cx="246888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822960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Profound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822960"/>
            <a:ext cx="246888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822960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Peec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822960"/>
            <a:ext cx="246888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822960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Passionfruit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280160"/>
            <a:ext cx="4114800" cy="716279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280160"/>
            <a:ext cx="411480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可視化(Visibility Radar/Heatmap等)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280160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280160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7A4E"/>
                </a:solidFill>
                <a:latin typeface="Yu Gothic"/>
              </a:rPr>
              <a:t>◎ 多彩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1280160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1280160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5C8A"/>
                </a:solidFill>
                <a:latin typeface="Yu Gothic"/>
              </a:rPr>
              <a:t>○ シンプル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1280160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280160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5C8A"/>
                </a:solidFill>
                <a:latin typeface="Yu Gothic"/>
              </a:rPr>
              <a:t>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996439"/>
            <a:ext cx="4114800" cy="716279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1996439"/>
            <a:ext cx="411480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ROI・売上アトリビューション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1996439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1996439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 ファネル接続あるが弱め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1996439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1996439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03A2E"/>
                </a:solidFill>
                <a:latin typeface="Yu Gothic"/>
              </a:rPr>
              <a:t>✕ なし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1996439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1996439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E7A4E"/>
                </a:solidFill>
                <a:latin typeface="Yu Gothic"/>
              </a:rPr>
              <a:t>◎ GA4/GSC連携で売上直結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712718"/>
            <a:ext cx="4114800" cy="716279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712718"/>
            <a:ext cx="411480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業界ベンチマーク同梱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2712718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2712718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C96E29"/>
                </a:solidFill>
                <a:latin typeface="Yu Gothic"/>
              </a:rPr>
              <a:t>△ Prompt Volumesは独自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712718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2712718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03A2E"/>
                </a:solidFill>
                <a:latin typeface="Yu Gothic"/>
              </a:rPr>
              <a:t>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2712718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2712718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03A2E"/>
                </a:solidFill>
                <a:latin typeface="Yu Gothic"/>
              </a:rPr>
              <a:t>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428997"/>
            <a:ext cx="4114800" cy="716279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3428997"/>
            <a:ext cx="411480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CMO向け3行サマリ自動生成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3428997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3428997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03A2E"/>
                </a:solidFill>
                <a:latin typeface="Yu Gothic"/>
              </a:rPr>
              <a:t>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3428997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3428997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03A2E"/>
                </a:solidFill>
                <a:latin typeface="Yu Gothic"/>
              </a:rPr>
              <a:t>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3428997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3428997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03A2E"/>
                </a:solidFill>
                <a:latin typeface="Yu Gothic"/>
              </a:rPr>
              <a:t>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145276"/>
            <a:ext cx="4114800" cy="716279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4145276"/>
            <a:ext cx="411480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競合との差分文章自動生成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4145276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0" y="4145276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03A2E"/>
                </a:solidFill>
                <a:latin typeface="Yu Gothic"/>
              </a:rPr>
              <a:t>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0" y="4145276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4145276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03A2E"/>
                </a:solidFill>
                <a:latin typeface="Yu Gothic"/>
              </a:rPr>
              <a:t>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26880" y="4145276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0" y="4145276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03A2E"/>
                </a:solidFill>
                <a:latin typeface="Yu Gothic"/>
              </a:rPr>
              <a:t>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861555"/>
            <a:ext cx="4114800" cy="716279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4861555"/>
            <a:ext cx="411480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取締役会向けPDF自動生成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0" y="4861555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89120" y="4861555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 エクスポートのみ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0" y="4861555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0" y="4861555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 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6880" y="4861555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26880" y="4861555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 同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5714994"/>
            <a:ext cx="11612880" cy="1005840"/>
          </a:xfrm>
          <a:prstGeom prst="rect">
            <a:avLst/>
          </a:prstGeom>
          <a:solidFill>
            <a:srgbClr val="FFF8E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" y="5714994"/>
            <a:ext cx="1161288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Yu Gothic"/>
              </a:rPr>
              <a:t>◆ 実態: Passionfruitの収益アトリビューションが唯一の救い。3行サマリ・物語生成は3社とも未搭載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Yu Gothic"/>
              </a:rPr>
              <a:t>◆ 残存ペイン: 所感コメント・ROI物語・業界ベンチ参照は依然手作業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887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Pain 5: スケール壁(30→100→1,000本、多言語、サブブランド)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戦略の幅・グローバル展開・サブブランド対応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37160" cy="62636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観点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822960"/>
            <a:ext cx="246888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822960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Profound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822960"/>
            <a:ext cx="246888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822960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Peec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822960"/>
            <a:ext cx="246888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822960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Passionfruit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280160"/>
            <a:ext cx="4114800" cy="716279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280160"/>
            <a:ext cx="411480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プロンプト規模上限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280160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280160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7A4E"/>
                </a:solidFill>
                <a:latin typeface="Yu Gothic"/>
              </a:rPr>
              <a:t>◎ 数千〜万本(エンプラ)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1280160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1280160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5C8A"/>
                </a:solidFill>
                <a:latin typeface="Yu Gothic"/>
              </a:rPr>
              <a:t>○ Pro 150本〜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1280160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280160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E5C8A"/>
                </a:solidFill>
                <a:latin typeface="Yu Gothic"/>
              </a:rPr>
              <a:t>○ Enterprise $499+/月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996439"/>
            <a:ext cx="4114800" cy="716279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1996439"/>
            <a:ext cx="411480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対応LLM数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1996439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1996439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7A4E"/>
                </a:solidFill>
                <a:latin typeface="Yu Gothic"/>
              </a:rPr>
              <a:t>◎ 10+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1996439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1996439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5C8A"/>
                </a:solidFill>
                <a:latin typeface="Yu Gothic"/>
              </a:rPr>
              <a:t>○ 6〜8(add-on含)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1996439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1996439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5C8A"/>
                </a:solidFill>
                <a:latin typeface="Yu Gothic"/>
              </a:rPr>
              <a:t>○ 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712718"/>
            <a:ext cx="4114800" cy="716279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712718"/>
            <a:ext cx="411480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対応言語数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2712718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2712718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5C8A"/>
                </a:solidFill>
                <a:latin typeface="Yu Gothic"/>
              </a:rPr>
              <a:t>○ 40+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712718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2712718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7A4E"/>
                </a:solidFill>
                <a:latin typeface="Yu Gothic"/>
              </a:rPr>
              <a:t>◎ 115+(業界最広)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2712718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2712718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 明示なし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428997"/>
            <a:ext cx="4114800" cy="716279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3428997"/>
            <a:ext cx="411480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対応リージョン数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3428997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3428997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7A4E"/>
                </a:solidFill>
                <a:latin typeface="Yu Gothic"/>
              </a:rPr>
              <a:t>◎ 200+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3428997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3428997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7A4E"/>
                </a:solidFill>
                <a:latin typeface="Yu Gothic"/>
              </a:rPr>
              <a:t>◎ 全国対応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3428997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3428997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5C8A"/>
                </a:solidFill>
                <a:latin typeface="Yu Gothic"/>
              </a:rPr>
              <a:t>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145276"/>
            <a:ext cx="4114800" cy="716279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4145276"/>
            <a:ext cx="411480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サブブランド管理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4145276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0" y="4145276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7A4E"/>
                </a:solidFill>
                <a:latin typeface="Yu Gothic"/>
              </a:rPr>
              <a:t>◎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0" y="4145276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4145276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7A4E"/>
                </a:solidFill>
                <a:latin typeface="Yu Gothic"/>
              </a:rPr>
              <a:t>◎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26880" y="4145276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0" y="4145276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5C8A"/>
                </a:solidFill>
                <a:latin typeface="Yu Gothic"/>
              </a:rPr>
              <a:t>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861555"/>
            <a:ext cx="4114800" cy="716279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4861555"/>
            <a:ext cx="411480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日本語LLM特化(Felo/Genspark等)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0" y="4861555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89120" y="4861555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0" y="4861555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0" y="4861555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C96E29"/>
                </a:solidFill>
                <a:latin typeface="Yu Gothic"/>
              </a:rPr>
              <a:t>△ Perplexity日本語あり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6880" y="4861555"/>
            <a:ext cx="2468880" cy="716279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26880" y="4861555"/>
            <a:ext cx="2468880" cy="7162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C96E29"/>
                </a:solidFill>
                <a:latin typeface="Yu Gothic"/>
              </a:rPr>
              <a:t>△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5714994"/>
            <a:ext cx="11612880" cy="1005840"/>
          </a:xfrm>
          <a:prstGeom prst="rect">
            <a:avLst/>
          </a:prstGeom>
          <a:solidFill>
            <a:srgbClr val="FFF8E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" y="5714994"/>
            <a:ext cx="1161288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Yu Gothic"/>
              </a:rPr>
              <a:t>◆ 実態: ProfoundとPeecは技術的スケール壁を概ね解消。Peecは115言語対応で多言語最強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Yu Gothic"/>
              </a:rPr>
              <a:t>◆ 残存ペイン: 日本語特化LLMエコシステム、エンタープライズ価格帯($2k〜5k/月)の壁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4712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解決度を時間で可視化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0">
                <a:solidFill>
                  <a:srgbClr val="E8EEF7"/>
                </a:solidFill>
                <a:latin typeface="Yu Gothic"/>
              </a:rPr>
              <a:t>年間時間配分の Before / After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887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ペルソナA(社内担当)の年間時間配分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ツール導入により54%削減、ただし戦略・解釈は残る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37160" cy="6263640"/>
          </a:xfrm>
          <a:prstGeom prst="rect">
            <a:avLst/>
          </a:prstGeom>
          <a:solidFill>
            <a:srgbClr val="2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97280"/>
            <a:ext cx="365760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3657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業務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097280"/>
            <a:ext cx="182880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097280"/>
            <a:ext cx="1828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非導入時(手動)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097280"/>
            <a:ext cx="182880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097280"/>
            <a:ext cx="1828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ツール導入後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097280"/>
            <a:ext cx="228600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097280"/>
            <a:ext cx="2286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削減量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0" y="1097280"/>
            <a:ext cx="73152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1097280"/>
            <a:ext cx="7315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評価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1600200"/>
            <a:ext cx="3657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600200"/>
            <a:ext cx="3657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Yu Gothic"/>
              </a:rPr>
              <a:t>データ収集・再計測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160020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60020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800h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60020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0020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80h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60020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600200"/>
            <a:ext cx="22860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▲720h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0" y="1600200"/>
            <a:ext cx="731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0" y="1600200"/>
            <a:ext cx="7315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2E7A4E"/>
                </a:solidFill>
                <a:latin typeface="Yu Gothic"/>
              </a:rPr>
              <a:t>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2240280"/>
            <a:ext cx="3657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2240280"/>
            <a:ext cx="3657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Yu Gothic"/>
              </a:rPr>
              <a:t>プロンプト設計・タグ付け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24028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224028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100h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24028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24028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60h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24028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2240280"/>
            <a:ext cx="22860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▲40h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15600" y="2240280"/>
            <a:ext cx="731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0" y="2240280"/>
            <a:ext cx="7315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2E5C8A"/>
                </a:solidFill>
                <a:latin typeface="Yu Gothic"/>
              </a:rPr>
              <a:t>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2880360"/>
            <a:ext cx="3657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2880360"/>
            <a:ext cx="3657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Yu Gothic"/>
              </a:rPr>
              <a:t>コンテンツ改修・ブリーフ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288036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288036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300h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88036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88036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250h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288036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2880360"/>
            <a:ext cx="22860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▲50h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515600" y="2880360"/>
            <a:ext cx="731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0" y="2880360"/>
            <a:ext cx="7315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C96E29"/>
                </a:solidFill>
                <a:latin typeface="Yu Gothic"/>
              </a:rPr>
              <a:t>△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3520440"/>
            <a:ext cx="3657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3520440"/>
            <a:ext cx="3657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Yu Gothic"/>
              </a:rPr>
              <a:t>経営レポート作文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352044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0" y="352044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200h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52044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52044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180h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52044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0" y="3520440"/>
            <a:ext cx="22860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▲20h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15600" y="3520440"/>
            <a:ext cx="731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5600" y="3520440"/>
            <a:ext cx="7315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C96E29"/>
                </a:solidFill>
                <a:latin typeface="Yu Gothic"/>
              </a:rPr>
              <a:t>△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" y="4160520"/>
            <a:ext cx="3657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" y="4160520"/>
            <a:ext cx="3657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Yu Gothic"/>
              </a:rPr>
              <a:t>戦略・解釈・部門調整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0" y="416052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0" y="416052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150h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416052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416052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150h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416052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0" y="4160520"/>
            <a:ext cx="22860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±0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515600" y="4160520"/>
            <a:ext cx="731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15600" y="4160520"/>
            <a:ext cx="7315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B03A2E"/>
                </a:solidFill>
                <a:latin typeface="Yu Gothic"/>
              </a:rPr>
              <a:t>✕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0" y="4800600"/>
            <a:ext cx="3657600" cy="64008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4400" y="4800600"/>
            <a:ext cx="3657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Yu Gothic"/>
              </a:rPr>
              <a:t>【合計】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0" y="4800600"/>
            <a:ext cx="1828800" cy="64008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0" y="480060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Yu Gothic"/>
              </a:rPr>
              <a:t>1,550h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4800600"/>
            <a:ext cx="1828800" cy="64008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0" y="480060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Yu Gothic"/>
              </a:rPr>
              <a:t>720h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29600" y="4800600"/>
            <a:ext cx="2286000" cy="64008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29600" y="4800600"/>
            <a:ext cx="22860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Yu Gothic"/>
              </a:rPr>
              <a:t>▲830h(54%減)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515600" y="4800600"/>
            <a:ext cx="731520" cy="64008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15600" y="4800600"/>
            <a:ext cx="7315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222222"/>
                </a:solidFill>
                <a:latin typeface="Yu Gothic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887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ペルソナB(代理店担当)の年間時間配分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マルチテナント対応で60%削減、提案・交渉は不変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37160" cy="6263640"/>
          </a:xfrm>
          <a:prstGeom prst="rect">
            <a:avLst/>
          </a:prstGeom>
          <a:solidFill>
            <a:srgbClr val="2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97280"/>
            <a:ext cx="365760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3657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業務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097280"/>
            <a:ext cx="182880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097280"/>
            <a:ext cx="1828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非導入時(手動)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097280"/>
            <a:ext cx="182880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097280"/>
            <a:ext cx="1828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ツール導入後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097280"/>
            <a:ext cx="228600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097280"/>
            <a:ext cx="2286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削減量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0" y="1097280"/>
            <a:ext cx="73152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1097280"/>
            <a:ext cx="7315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評価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1600200"/>
            <a:ext cx="3657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600200"/>
            <a:ext cx="3657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Yu Gothic"/>
              </a:rPr>
              <a:t>多クライアント手動運用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160020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60020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600h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60020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0020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60h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60020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600200"/>
            <a:ext cx="22860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▲540h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0" y="1600200"/>
            <a:ext cx="731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0" y="1600200"/>
            <a:ext cx="7315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2E7A4E"/>
                </a:solidFill>
                <a:latin typeface="Yu Gothic"/>
              </a:rPr>
              <a:t>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2240280"/>
            <a:ext cx="3657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2240280"/>
            <a:ext cx="3657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Yu Gothic"/>
              </a:rPr>
              <a:t>月次レポート作成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24028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224028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600h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24028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24028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200h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24028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2240280"/>
            <a:ext cx="22860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▲400h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15600" y="2240280"/>
            <a:ext cx="731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0" y="2240280"/>
            <a:ext cx="7315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2E5C8A"/>
                </a:solidFill>
                <a:latin typeface="Yu Gothic"/>
              </a:rPr>
              <a:t>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2880360"/>
            <a:ext cx="3657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2880360"/>
            <a:ext cx="3657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Yu Gothic"/>
              </a:rPr>
              <a:t>ブリーフ作成・QA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288036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288036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300h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88036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88036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250h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288036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2880360"/>
            <a:ext cx="22860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▲50h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515600" y="2880360"/>
            <a:ext cx="731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0" y="2880360"/>
            <a:ext cx="7315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C96E29"/>
                </a:solidFill>
                <a:latin typeface="Yu Gothic"/>
              </a:rPr>
              <a:t>△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3520440"/>
            <a:ext cx="3657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3520440"/>
            <a:ext cx="3657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Yu Gothic"/>
              </a:rPr>
              <a:t>クライアント説明・更新交渉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352044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0" y="352044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150h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52044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52044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150h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52044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0" y="3520440"/>
            <a:ext cx="22860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Yu Gothic"/>
              </a:rPr>
              <a:t>±0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15600" y="3520440"/>
            <a:ext cx="731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5600" y="3520440"/>
            <a:ext cx="7315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B03A2E"/>
                </a:solidFill>
                <a:latin typeface="Yu Gothic"/>
              </a:rPr>
              <a:t>✕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" y="4160520"/>
            <a:ext cx="3657600" cy="64008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" y="4160520"/>
            <a:ext cx="3657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Yu Gothic"/>
              </a:rPr>
              <a:t>【合計】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0" y="4160520"/>
            <a:ext cx="1828800" cy="64008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0" y="416052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Yu Gothic"/>
              </a:rPr>
              <a:t>1,650h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4160520"/>
            <a:ext cx="1828800" cy="64008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416052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Yu Gothic"/>
              </a:rPr>
              <a:t>660h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4160520"/>
            <a:ext cx="2286000" cy="64008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0" y="4160520"/>
            <a:ext cx="22860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Yu Gothic"/>
              </a:rPr>
              <a:t>▲990h(60%減)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515600" y="4160520"/>
            <a:ext cx="731520" cy="64008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15600" y="4160520"/>
            <a:ext cx="7315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222222"/>
                </a:solidFill>
                <a:latin typeface="Yu Gothic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6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4712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ホワイトスペース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0">
                <a:solidFill>
                  <a:srgbClr val="E8EEF7"/>
                </a:solidFill>
                <a:latin typeface="Yu Gothic"/>
              </a:rPr>
              <a:t>3社が解決していない7つの未開拓領域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887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3社で解決されないペイン:7つのホワイトスペース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あなたのプロダクトの差別化候補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822960"/>
            <a:ext cx="365760" cy="41148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822960"/>
            <a:ext cx="3657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2560320" cy="41148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25603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未解決ペイン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822960"/>
            <a:ext cx="2286000" cy="41148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822960"/>
            <a:ext cx="22860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競合状況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822960"/>
            <a:ext cx="5852160" cy="41148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822960"/>
            <a:ext cx="58521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プロダクト機会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247120" y="822960"/>
            <a:ext cx="731520" cy="41148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0" y="822960"/>
            <a:ext cx="7315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34440"/>
            <a:ext cx="36576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1234440"/>
            <a:ext cx="3657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Yu Gothic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234440"/>
            <a:ext cx="2560320" cy="713232"/>
          </a:xfrm>
          <a:prstGeom prst="rect">
            <a:avLst/>
          </a:prstGeom>
          <a:solidFill>
            <a:srgbClr val="FFF8E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234440"/>
            <a:ext cx="256032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B03A2E"/>
                </a:solidFill>
                <a:latin typeface="Yu Gothic"/>
              </a:rPr>
              <a:t>ノイズ vs シグナル分離(統計的信頼区間)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1234440"/>
            <a:ext cx="2286000" cy="713232"/>
          </a:xfrm>
          <a:prstGeom prst="rect">
            <a:avLst/>
          </a:prstGeom>
          <a:solidFill>
            <a:srgbClr val="FFF8E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234440"/>
            <a:ext cx="228600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3社とも未実装、研究フロンティア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1234440"/>
            <a:ext cx="5852160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1234440"/>
            <a:ext cx="58521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「Signal/Noise Engine」: 複数回実行で揺らぎを統計処理し、信頼区間付きで変化を提示。学術研究(Ai2 framework)を実装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247120" y="1234440"/>
            <a:ext cx="731520" cy="713232"/>
          </a:xfrm>
          <a:prstGeom prst="rect">
            <a:avLst/>
          </a:prstGeom>
          <a:solidFill>
            <a:srgbClr val="FFF8E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0" y="1234440"/>
            <a:ext cx="73152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B03A2E"/>
                </a:solidFill>
                <a:latin typeface="Yu Gothic"/>
              </a:rPr>
              <a:t>★最有望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47672"/>
            <a:ext cx="36576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1947672"/>
            <a:ext cx="3657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Yu Gothic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1947672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1947672"/>
            <a:ext cx="256032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Yu Gothic"/>
              </a:rPr>
              <a:t>CMO向け3行サマリ自動生成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1947672"/>
            <a:ext cx="2286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1947672"/>
            <a:ext cx="228600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全社ダッシュボード提示まで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94960" y="1947672"/>
            <a:ext cx="58521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0" y="1947672"/>
            <a:ext cx="58521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「Executive Summarizer Agent」: 前月比/カテゴリ/競合差分の3行を自動生成、ROI物語テンプレを内蔵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247120" y="1947672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47120" y="1947672"/>
            <a:ext cx="73152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B03A2E"/>
                </a:solidFill>
                <a:latin typeface="Yu Gothic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2660904"/>
            <a:ext cx="36576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" y="2660904"/>
            <a:ext cx="3657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Yu Gothic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2660904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2660904"/>
            <a:ext cx="256032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Yu Gothic"/>
              </a:rPr>
              <a:t>業界ベンチマーク同梱(Pain 4補強)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2660904"/>
            <a:ext cx="2286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08960" y="2660904"/>
            <a:ext cx="228600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Profound独自データ以外なし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94960" y="2660904"/>
            <a:ext cx="58521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0" y="2660904"/>
            <a:ext cx="58521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「Industry Benchmark Library」: 業種別中央値・上位10%値を同梱、自社の立ち位置を即可視化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247120" y="2660904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247120" y="2660904"/>
            <a:ext cx="73152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B03A2E"/>
                </a:solidFill>
                <a:latin typeface="Yu Gothic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3374136"/>
            <a:ext cx="36576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" y="3374136"/>
            <a:ext cx="3657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Yu Gothic"/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3374136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374136"/>
            <a:ext cx="256032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Yu Gothic"/>
              </a:rPr>
              <a:t>計測→CMS改修PRの自動起票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08960" y="3374136"/>
            <a:ext cx="2286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0" y="3374136"/>
            <a:ext cx="228600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3社とも「測定で終わる」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94960" y="3374136"/>
            <a:ext cx="58521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94960" y="3374136"/>
            <a:ext cx="58521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「Optimization Agent」: Schema・FAQ・原子段落構造をHeadless CMS/Webflowに自動PR起票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247120" y="3374136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247120" y="3374136"/>
            <a:ext cx="73152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B03A2E"/>
                </a:solidFill>
                <a:latin typeface="Yu Gothic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4087368"/>
            <a:ext cx="36576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2880" y="4087368"/>
            <a:ext cx="3657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Yu Gothic"/>
              </a:rPr>
              <a:t>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408736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4087368"/>
            <a:ext cx="256032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Yu Gothic"/>
              </a:rPr>
              <a:t>属人化解消のSOP自動生成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08960" y="4087368"/>
            <a:ext cx="2286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08960" y="4087368"/>
            <a:ext cx="228600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全社未対応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94960" y="4087368"/>
            <a:ext cx="58521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94960" y="4087368"/>
            <a:ext cx="58521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「Knowledge Auto-Documentation」: プロンプト追加時に「なぜ」「どう解釈するか」をAIが自動文書化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247120" y="4087368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247120" y="4087368"/>
            <a:ext cx="73152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B03A2E"/>
                </a:solidFill>
                <a:latin typeface="Yu Gothic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182880" y="4800600"/>
            <a:ext cx="36576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82880" y="4800600"/>
            <a:ext cx="3657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Yu Gothic"/>
              </a:rPr>
              <a:t>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4800600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4800600"/>
            <a:ext cx="256032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Yu Gothic"/>
              </a:rPr>
              <a:t>日本語LLM特化(Felo/Genspark等)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08960" y="4800600"/>
            <a:ext cx="2286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08960" y="4800600"/>
            <a:ext cx="228600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Peec 115言語対応だが日本語LLMエコシステムは別問題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394960" y="4800600"/>
            <a:ext cx="58521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94960" y="4800600"/>
            <a:ext cx="58521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「日本語AI検索完全対応」: Felo/Genspark/Yahoo!知恵袋AI/PKSHA等の日本独自LLMをカバー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247120" y="4800600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247120" y="4800600"/>
            <a:ext cx="73152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B03A2E"/>
                </a:solidFill>
                <a:latin typeface="Yu Gothic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5513832"/>
            <a:ext cx="36576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2880" y="5513832"/>
            <a:ext cx="3657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Yu Gothic"/>
              </a:rPr>
              <a:t>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5513832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5513832"/>
            <a:ext cx="256032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Yu Gothic"/>
              </a:rPr>
              <a:t>コンテンツ・改修・PR・SEO統合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08960" y="5513832"/>
            <a:ext cx="2286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08960" y="5513832"/>
            <a:ext cx="228600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3社とも測定特化、改修は別ツール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94960" y="5513832"/>
            <a:ext cx="58521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394960" y="5513832"/>
            <a:ext cx="58521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「クローズドループ」: 測定→改修→再計測を1プラットフォームで完結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247120" y="5513832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247120" y="5513832"/>
            <a:ext cx="73152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B03A2E"/>
                </a:solidFill>
                <a:latin typeface="Yu Gothic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887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戦略ポジショニング:未解決ペイン × 既存3社の関心度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★Signal/Noise Engine が最有望ホワイトスペース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097280"/>
            <a:ext cx="7772400" cy="50292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67628" y="1097280"/>
            <a:ext cx="9144" cy="5029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3607308"/>
            <a:ext cx="7772400" cy="914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Yu Gothic"/>
              </a:rPr>
              <a:t>高 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00400"/>
            <a:ext cx="18288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1F3A5F"/>
                </a:solidFill>
                <a:latin typeface="Yu Gothic"/>
              </a:rPr>
              <a:t>解決価値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85216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Yu Gothic"/>
              </a:rPr>
              <a:t>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6263640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Yu Gothic"/>
              </a:rPr>
              <a:t>低 ←──── 既存3社の関心度 ────→ 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325879"/>
            <a:ext cx="2194560" cy="640080"/>
          </a:xfrm>
          <a:prstGeom prst="rect">
            <a:avLst/>
          </a:prstGeom>
          <a:solidFill>
            <a:srgbClr val="FFF8E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1325879"/>
            <a:ext cx="21945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B03A2E"/>
                </a:solidFill>
                <a:latin typeface="Yu Gothic"/>
              </a:rPr>
              <a:t>★ Signal/Noise Engine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3A2E"/>
                </a:solidFill>
                <a:latin typeface="Yu Gothic"/>
              </a:rPr>
              <a:t>(#1) 最有望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2240279"/>
            <a:ext cx="21945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2240279"/>
            <a:ext cx="21945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1F3A5F"/>
                </a:solidFill>
                <a:latin typeface="Yu Gothic"/>
              </a:rPr>
              <a:t>業界ベンチ (#3)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691640"/>
            <a:ext cx="2194560" cy="640080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691640"/>
            <a:ext cx="21945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1F3A5F"/>
                </a:solidFill>
                <a:latin typeface="Yu Gothic"/>
              </a:rPr>
              <a:t>CMO 3行サマリ (#2)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3154679"/>
            <a:ext cx="21945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3154679"/>
            <a:ext cx="21945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1F3A5F"/>
                </a:solidFill>
                <a:latin typeface="Yu Gothic"/>
              </a:rPr>
              <a:t>日本語LLM (#6)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4069080"/>
            <a:ext cx="21945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4069080"/>
            <a:ext cx="21945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1F3A5F"/>
                </a:solidFill>
                <a:latin typeface="Yu Gothic"/>
              </a:rPr>
              <a:t>SOP自動化 (#5)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977640"/>
            <a:ext cx="21945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977640"/>
            <a:ext cx="21945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1F3A5F"/>
                </a:solidFill>
                <a:latin typeface="Yu Gothic"/>
              </a:rPr>
              <a:t>CMS PR起票 (#4)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5074920"/>
            <a:ext cx="21945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5074920"/>
            <a:ext cx="21945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1F3A5F"/>
                </a:solidFill>
                <a:latin typeface="Yu Gothic"/>
              </a:rPr>
              <a:t>クローズドループ (#7)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4712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次のステップ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0">
                <a:solidFill>
                  <a:srgbClr val="E8EEF7"/>
                </a:solidFill>
                <a:latin typeface="Yu Gothic"/>
              </a:rPr>
              <a:t>プロダクト仮説の絞り込みへ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887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次のステップ候補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プロダクト仮説の絞り込みと検証へ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54864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914400"/>
            <a:ext cx="365760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914400"/>
            <a:ext cx="3657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アクション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914400"/>
            <a:ext cx="685800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914400"/>
            <a:ext cx="6858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48640" cy="1097280"/>
          </a:xfrm>
          <a:prstGeom prst="rect">
            <a:avLst/>
          </a:prstGeom>
          <a:solidFill>
            <a:srgbClr val="FFF8E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54864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1F3A5F"/>
                </a:solidFill>
                <a:latin typeface="Yu Gothic"/>
              </a:rPr>
              <a:t>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1417320"/>
            <a:ext cx="3657600" cy="109728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417320"/>
            <a:ext cx="365760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Yu Gothic"/>
              </a:rPr>
              <a:t>プロトタイプ対象を1〜2個に絞る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417320"/>
            <a:ext cx="6858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417320"/>
            <a:ext cx="685800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Yu Gothic"/>
              </a:rPr>
              <a:t>上記7つのホワイトスペースから選定するワークショップ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14600"/>
            <a:ext cx="548640" cy="1097280"/>
          </a:xfrm>
          <a:prstGeom prst="rect">
            <a:avLst/>
          </a:prstGeom>
          <a:solidFill>
            <a:srgbClr val="FFF8E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514600"/>
            <a:ext cx="54864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1F3A5F"/>
                </a:solidFill>
                <a:latin typeface="Yu Gothic"/>
              </a:rPr>
              <a:t>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2514600"/>
            <a:ext cx="3657600" cy="109728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514600"/>
            <a:ext cx="365760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Yu Gothic"/>
              </a:rPr>
              <a:t>「Signal/Noise Engine」の技術仕様検討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2514600"/>
            <a:ext cx="6858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514600"/>
            <a:ext cx="685800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Yu Gothic"/>
              </a:rPr>
              <a:t>複数回実行アーキテクチャ、統計手法選定(Ai2 framework等)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11880"/>
            <a:ext cx="548640" cy="1097280"/>
          </a:xfrm>
          <a:prstGeom prst="rect">
            <a:avLst/>
          </a:prstGeom>
          <a:solidFill>
            <a:srgbClr val="FFF8E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611880"/>
            <a:ext cx="54864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1F3A5F"/>
                </a:solidFill>
                <a:latin typeface="Yu Gothic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3611880"/>
            <a:ext cx="3657600" cy="109728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611880"/>
            <a:ext cx="365760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Yu Gothic"/>
              </a:rPr>
              <a:t>「日本語LLMエコシステム特化」のリサーチ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3611880"/>
            <a:ext cx="6858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3611880"/>
            <a:ext cx="685800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Yu Gothic"/>
              </a:rPr>
              <a:t>対象LLM一覧(Felo/Genspark/PKSHA/国産)、対応コスト試算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09160"/>
            <a:ext cx="548640" cy="1097280"/>
          </a:xfrm>
          <a:prstGeom prst="rect">
            <a:avLst/>
          </a:prstGeom>
          <a:solidFill>
            <a:srgbClr val="FFF8E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709160"/>
            <a:ext cx="54864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1F3A5F"/>
                </a:solidFill>
                <a:latin typeface="Yu Gothic"/>
              </a:rPr>
              <a:t>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4709160"/>
            <a:ext cx="3657600" cy="109728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709160"/>
            <a:ext cx="365760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Yu Gothic"/>
              </a:rPr>
              <a:t>Willingness-to-Pay 仮説検証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4709160"/>
            <a:ext cx="6858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4709160"/>
            <a:ext cx="685800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Yu Gothic"/>
              </a:rPr>
              <a:t>ペイン別の支払意欲を顧客インタビューで検証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