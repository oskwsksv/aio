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Yu Gothic"/>
              </a:rPr>
              <a:t>カスタマージャーニーマップ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124712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Yu Gothic"/>
              </a:rPr>
              <a:t>GEO / AEO 領域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>
                <a:solidFill>
                  <a:srgbClr val="E8EEF7"/>
                </a:solidFill>
                <a:latin typeface="Yu Gothic"/>
              </a:rPr>
              <a:t>ベンチマーク3社(Profound / Peec AI / Passionfruit Labs)を統合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949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E8EEF7"/>
                </a:solidFill>
                <a:latin typeface="Yu Gothic"/>
              </a:rPr>
              <a:t>2026年5月 作成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Yu Gothic"/>
              </a:rPr>
              <a:t>【ペルソナA】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Yu Gothic"/>
              </a:rPr>
              <a:t>大手SaaS企業 デジタルマーケ部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Yu Gothic"/>
              </a:rPr>
              <a:t>GEO/AEO担当者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8872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【ペルソナA】大手SaaS企業 デジタルマーケ部 GEO/AEO担当者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84048"/>
            <a:ext cx="1188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ペルソナ詳細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137160" cy="621792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2468880" cy="50292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24688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想定ロール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914400"/>
            <a:ext cx="8961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914400"/>
            <a:ext cx="89611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Yu Gothic"/>
              </a:rPr>
              <a:t>Senior Manager, Digital Marketing(GEO/AEO Lead) 30代後半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2468880" cy="50292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17320"/>
            <a:ext cx="24688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所属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417320"/>
            <a:ext cx="8961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417320"/>
            <a:ext cx="89611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Yu Gothic"/>
              </a:rPr>
              <a:t>ARR $100M〜$1B のグローバルB2B SaaS企業(例:MongoDB / DocuSign規模)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920240"/>
            <a:ext cx="2468880" cy="50292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920240"/>
            <a:ext cx="24688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上司ライン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1920240"/>
            <a:ext cx="8961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1920240"/>
            <a:ext cx="89611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Yu Gothic"/>
              </a:rPr>
              <a:t>Director → VP Marketing → CMO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423160"/>
            <a:ext cx="2468880" cy="50292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423160"/>
            <a:ext cx="24688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個人KGI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2423160"/>
            <a:ext cx="8961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2423160"/>
            <a:ext cx="89611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Yu Gothic"/>
              </a:rPr>
              <a:t>パイプライン貢献、ブランドVisibility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926080"/>
            <a:ext cx="2468880" cy="50292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926080"/>
            <a:ext cx="24688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個人KPI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2926080"/>
            <a:ext cx="8961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2926080"/>
            <a:ext cx="89611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Yu Gothic"/>
              </a:rPr>
              <a:t>AI Mention Rate / Share of Voice / Sentiment / AI経由トラフィック・パイプライン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429000"/>
            <a:ext cx="2468880" cy="50292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429000"/>
            <a:ext cx="24688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チーム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3429000"/>
            <a:ext cx="8961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3429000"/>
            <a:ext cx="89611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Yu Gothic"/>
              </a:rPr>
              <a:t>自分1〜3名(コンテンツストラテジスト / スキーマ専門 / データアナリスト)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931920"/>
            <a:ext cx="2468880" cy="50292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931920"/>
            <a:ext cx="24688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周辺ステークホルダー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931920"/>
            <a:ext cx="8961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3931920"/>
            <a:ext cx="89611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Yu Gothic"/>
              </a:rPr>
              <a:t>SEOチーム、コンテンツチーム、PR、Web開発、法務、情シス／セキュリティ、財務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434840"/>
            <a:ext cx="2468880" cy="50292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434840"/>
            <a:ext cx="24688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既存ツール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4434840"/>
            <a:ext cx="8961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34640" y="4434840"/>
            <a:ext cx="89611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Yu Gothic"/>
              </a:rPr>
              <a:t>GA4、Search Console、Semrush/Ahrefs、HubSpot、Salesforce、Segment、Looker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8872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【ペルソナA】ジャーニー全体像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84048"/>
            <a:ext cx="1188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ジャーニー全体像(サブステップ分解外フェーズ)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137160" cy="621792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2377440" cy="118872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237744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① 異変認知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822960"/>
            <a:ext cx="91440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822960"/>
            <a:ext cx="914400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Yu Gothic"/>
              </a:rPr>
              <a:t>オーガニック流入の減少傾向を察知。CMOから「ChatGPTで自社が出てこない」と一言。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Yu Gothic"/>
              </a:rPr>
              <a:t>【ペイン】既存ツール(GA/Semrush)でAI流入が見えない／社内に前例ゼロで何から手を付けるか不明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11680"/>
            <a:ext cx="2377440" cy="118872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011680"/>
            <a:ext cx="237744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② 情報収集・学習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2011680"/>
            <a:ext cx="91440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011680"/>
            <a:ext cx="914400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Yu Gothic"/>
              </a:rPr>
              <a:t>GEO/AEO/LLMOの定義整理、競合動向、業界レポート読み込み。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Yu Gothic"/>
              </a:rPr>
              <a:t>【ペイン】情報が断片的でベンダー発信に偏る／日本語LLM対応の情報が極端に少ない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00400"/>
            <a:ext cx="2377440" cy="118872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200400"/>
            <a:ext cx="237744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③ 戦略立案・KPI設計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3200400"/>
            <a:ext cx="91440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0" y="3200400"/>
            <a:ext cx="914400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Yu Gothic"/>
              </a:rPr>
              <a:t>自社ICP×購買ファネルでプロンプト300本を選定。北極星KPI決定。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Yu Gothic"/>
              </a:rPr>
              <a:t>【ペイン】プロンプトの優先順位付けに正解がない／既存SEO KPIとの連携設計が難しい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389120"/>
            <a:ext cx="2377440" cy="118872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389120"/>
            <a:ext cx="237744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④ ツール選定・稟議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4389120"/>
            <a:ext cx="91440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1760" y="4389120"/>
            <a:ext cx="914400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Yu Gothic"/>
              </a:rPr>
              <a:t>3〜5社をPoC比較、セキュリティ審査、年間予算化。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Yu Gothic"/>
              </a:rPr>
              <a:t>【ペイン】SOC2/SSO/監査ログ等のエンタープライズ要件を満たすベンダーが限られる／購買・法務・情シス三段審査で4〜6ヶ月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577840"/>
            <a:ext cx="2377440" cy="118872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5577840"/>
            <a:ext cx="237744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⑨ 横展開・スケール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5577840"/>
            <a:ext cx="91440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760" y="5577840"/>
            <a:ext cx="914400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Yu Gothic"/>
              </a:rPr>
              <a:t>多言語・多リージョン展開、サブブランド追加、社内ナレッジ化。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Yu Gothic"/>
              </a:rPr>
              <a:t>【ペイン】ツールが多言語・多リージョン本格対応していない／グローバルSOP統一困難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8872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【A】Phase ⑤ オンボード・初期設定(標準4週間)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84048"/>
            <a:ext cx="1188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ペルソナA — サブステップ詳細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137160" cy="621792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777240"/>
            <a:ext cx="1143000" cy="50292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777240"/>
            <a:ext cx="11430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観点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77240"/>
            <a:ext cx="3530498" cy="50292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777240"/>
            <a:ext cx="353049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⑤-1 環境セットアップ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Yu Gothic"/>
              </a:rPr>
              <a:t>(Week 1-2)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02098" y="777240"/>
            <a:ext cx="3530498" cy="50292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2098" y="777240"/>
            <a:ext cx="353049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⑤-2 プロンプト設計・タグ付け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Yu Gothic"/>
              </a:rPr>
              <a:t>(Week 2-3)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32596" y="777240"/>
            <a:ext cx="3530498" cy="50292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2596" y="777240"/>
            <a:ext cx="353049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⑤-3 ベースライン取得・ダッシュボード/アラート設計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Yu Gothic"/>
              </a:rPr>
              <a:t>(Week 3-4)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280160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1280160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タスク／ジョブ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128016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128016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ブランド／サブブランド／競合／対象モデル／対象国・言語／SSO／RBAC／監査ログ／API・BI連携を設定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02098" y="128016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02098" y="128016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ICP×購買ファネル×製品ライン×ペルソナでプロンプト300〜1,000本を起案・選定・タグ付け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2596" y="128016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2596" y="128016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プロンプト初回実行→ベースライン記録、ダッシュボード分割、アラート閾値・受信者・チャネル設計、QBR/レビュー会議体設定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1993392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" y="1993392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行動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1993392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199339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CSMキックオフ、競合リスト整備、Salesforce/HubSpot/GA4/Looker接続設定、社内SSO発行、IP範囲共有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02098" y="1993392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02098" y="199339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プロダクトマーケ・SE・営業・ABMチームへヒアリング、競合プロンプト調査、PMM資料・営業トーク・Win/Lossから抽出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2596" y="1993392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2596" y="199339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初回スナップショット取得、Looker埋め込み、Slackチャネル作成、Sentiment急落・SoV低下のアラート設計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2706624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" y="2706624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思考・問い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0" y="2706624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2706624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「セキュリティ部門の追加質問が増えそう」「他システム連携を最初に詰めないと後で詰む」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02098" y="2706624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02098" y="2706624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「プロンプトの粒度・本数の正解値は？」「日本語と英語を分けて持つべき？」「ABM向けの社名×プロダクト系まで含めるか」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2596" y="2706624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2596" y="2706624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「アラート過多になると無視される」「閾値を厳しくしすぎると見逃す」「経営に出すKPIから逆算してダッシュボードを切るべき」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3419856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" y="3419856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感情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0" y="3419856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71600" y="3419856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😅 設定地獄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02098" y="3419856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02098" y="3419856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🤔 正解のなさへの不安・属人性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32596" y="3419856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32596" y="3419856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🙂 進捗感／🔔 通知設計の悩み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4133088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8600" y="4133088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🔥 ペイン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71600" y="4133088"/>
            <a:ext cx="3530498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71600" y="4133088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・SaaS連携の認証・権限取得に部門横断で2〜4週間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・サブブランド／買収企業／グローバル各リージョンの設定が手作業の繰り返し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・SOC2/RBAC等の運用ルール文書化に時間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02098" y="4133088"/>
            <a:ext cx="3530498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02098" y="4133088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・プロンプト選定の正解SOPがない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・1,000本規模になると重複・ファネル偏り・タグ運用が破綻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・営業現場の生プロンプトを吸い上げる仕組みがない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32596" y="4133088"/>
            <a:ext cx="3530498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32596" y="4133088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・初期データのノイズ・モデル変動を「異常値」として誤検知しがち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・経営報告KPIに合わせたダッシュボードを後付けで作り直す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・アラート設計の正解値が経験則に依存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4846320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8600" y="4846320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タッチポイント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0" y="484632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71600" y="484632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CSM Slack / 管理コンソール / 情シス・購買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02098" y="484632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02098" y="484632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プロンプト管理画面 / Notion / 営業ヒアリングMTG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32596" y="484632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32596" y="484632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ダッシュボード / Slackアラート / Looker / カレンダー(QBR)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" y="5559552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28600" y="5559552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🎯 機会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371600" y="5559552"/>
            <a:ext cx="3530498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371600" y="555955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連携テンプレートライブラリ＋サブブランド一括コピー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902098" y="5559552"/>
            <a:ext cx="3530498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902098" y="555955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プロンプトAI自動生成＋営業データ自動取込(Gong/Salesforce連携で実プロンプト抽出)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32596" y="5559552"/>
            <a:ext cx="3530498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32596" y="555955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アラート閾値の自動推奨＋経営KPIテンプレート(CMO向けカスタマイズ済)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8872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【A】Phase ⑥ 日次運用・モニタリング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84048"/>
            <a:ext cx="1188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ペルソナA — サブステップ詳細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137160" cy="621792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777240"/>
            <a:ext cx="1143000" cy="50292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777240"/>
            <a:ext cx="11430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観点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77240"/>
            <a:ext cx="3530498" cy="50292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777240"/>
            <a:ext cx="353049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⑥-1 デイリー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Yu Gothic"/>
              </a:rPr>
              <a:t>アラート対応・ノイズ振分け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02098" y="777240"/>
            <a:ext cx="3530498" cy="50292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2098" y="777240"/>
            <a:ext cx="353049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⑥-2 ウィークリー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Yu Gothic"/>
              </a:rPr>
              <a:t>Mention/Citation/SoVトレンドレビュー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32596" y="777240"/>
            <a:ext cx="3530498" cy="50292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2596" y="777240"/>
            <a:ext cx="353049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⑥-3 マンスリー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Yu Gothic"/>
              </a:rPr>
              <a:t>センチメント・競合シフトのトリアージ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280160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1280160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タスク／ジョブ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128016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128016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朝のSlackアラート確認、緊急性判定、関係部門にエスカレーション、誤検知の振り分け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02098" y="128016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02098" y="128016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Top10プロンプトのMention Rate / Citation Rate / SoV / First-Mention Rateの推移を確認、要因分析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2596" y="128016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2596" y="128016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センチメント悪化／競合急伸／自社引用喪失をクラスタリング、月次プランへ反映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1993392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" y="1993392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行動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1993392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199339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通知巡回、PR部門・営業部門・SEOチームへのエスカレ、「無視」「監視継続」「即対応」の三択判断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02098" y="1993392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02098" y="199339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Looker/GEOツールで週次トレンドレポート確認、競合の特定ページ調査、社内Slackで共有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2596" y="1993392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2596" y="199339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センチメント引用元のソース確認、競合の被引用ページ分析、四半期計画にリスト化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2706624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" y="2706624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思考・問い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0" y="2706624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2706624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「これはノイズか実シグナルか」「PRに即連絡すべき案件か」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02098" y="2706624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02098" y="2706624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「上昇／低下の主要因は何か」「Claude/Geminiで差が出ている理由は？」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2596" y="2706624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2596" y="2706624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「センチメント悪化の根源はどこか」「競合のどのコンテンツが引用されている？」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3419856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" y="3419856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感情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0" y="3419856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71600" y="3419856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😵 通知疲れ・即応プレッシャー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02098" y="3419856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02098" y="3419856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🧐 分析モード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32596" y="3419856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32596" y="3419856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🔥 戦略思考／😬 競合焦り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4133088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8600" y="4133088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🔥 ペイン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71600" y="4133088"/>
            <a:ext cx="3530498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71600" y="4133088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・毎日数十件のアラートで本質的なシグナルが埋もれる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・LLMの確率的揺らぎを「変化」と誤検知する頻度が高い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・PR/営業との連絡経路が個人Slackに依存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02098" y="4133088"/>
            <a:ext cx="3530498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02098" y="4133088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・週次レポート作成に毎週3〜5時間手作業で消費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・モデル間の差分の解釈に正解がない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・SEO KPIとAEO KPIの統合ビューが存在せず別ツール併用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32596" y="4133088"/>
            <a:ext cx="3530498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32596" y="4133088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・センチメント悪化の根本原因まで辿るのに半日〜1日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・競合のページ単位citation分析が手作業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・四半期計画とのつなぎ込みが属人的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4846320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8600" y="4846320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タッチポイント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0" y="484632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71600" y="484632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Slack / メール / 管理コンソール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02098" y="484632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02098" y="484632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Looker / Notion / 週次レビューMTG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32596" y="484632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32596" y="484632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センチメントダッシュボード / 競合ページ / Confluence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" y="5559552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28600" y="5559552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🎯 機会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371600" y="5559552"/>
            <a:ext cx="3530498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371600" y="555955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シグナル要約Agent(本物の異変だけ抽出)＋ノイズ自動フィルタ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902098" y="5559552"/>
            <a:ext cx="3530498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902098" y="555955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週次サマリ自動生成(要因の差分言語化)＋SEO/AEO統合ビュー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32596" y="5559552"/>
            <a:ext cx="3530498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32596" y="555955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根本原因AI＋競合被引用ページ自動アーカイブ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8872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【A】Phase ⑦ 改善(コンテンツ/構造化)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84048"/>
            <a:ext cx="1188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ペルソナA — サブステップ詳細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137160" cy="621792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777240"/>
            <a:ext cx="1143000" cy="50292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777240"/>
            <a:ext cx="11430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観点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77240"/>
            <a:ext cx="3530498" cy="50292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777240"/>
            <a:ext cx="353049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⑦-1 ギャップ特定・優先順位付け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02098" y="777240"/>
            <a:ext cx="3530498" cy="50292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2098" y="777240"/>
            <a:ext cx="353049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⑦-2 コンテンツ改修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Yu Gothic"/>
              </a:rPr>
              <a:t>Schema/FAQ/構造化＋ライティング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32596" y="777240"/>
            <a:ext cx="3530498" cy="50292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2596" y="777240"/>
            <a:ext cx="353049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⑦-3 公開・効果計測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Yu Gothic"/>
              </a:rPr>
              <a:t>再計測ループ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280160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1280160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タスク／ジョブ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128016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128016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プロンプトギャップ・トピックギャップ・引用先ページ分析、ROIが大きい順に改修候補をリスト化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02098" y="128016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02098" y="128016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H2/H3の質問化、回答サマリ冒頭挿入、原子段落化、FAQ追加、Schema実装、E-E-A-T強化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2596" y="128016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2596" y="128016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CMS公開、サイトマップ送信、再クロール促進、4〜8週間で再計測しBefore/Afterを記録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1993392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" y="1993392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行動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1993392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199339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ツールで「未引用だが商機あり」プロンプトを抽出、競合被引用ページを構造分解、Jiraチケット起票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02098" y="1993392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02098" y="199339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コンテンツライターへのブリーフ作成、Web開発へSchema実装依頼、社内法務レビュー、PR/PMM連携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2596" y="1993392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2596" y="199339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デプロイ→GSC再クロール→再プロンプト実行→ダッシュボードで前後比較→Win/Lossをドキュメント化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2706624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" y="2706624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思考・問い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0" y="2706624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2706624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「どこから手を付ければ最速で結果が出る？」「コンテンツ施策とPR施策のどちらが効く？」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02098" y="2706624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02098" y="2706624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「LLMに引用される構造とは具体的に何か」「既存ブランドガイドラインと衝突しないか」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2596" y="2706624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2596" y="2706624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「ラグはどれぐらい？」「再計測タイミングは？」「成功施策の再現性は？」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3419856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" y="3419856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感情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0" y="3419856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71600" y="3419856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🧠 戦略集中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02098" y="3419856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02098" y="3419856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😤 部門横断調整の苦労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32596" y="3419856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32596" y="3419856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😌 達成感／📈 次の打ち手探し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4133088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8600" y="4133088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🔥 ペイン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71600" y="4133088"/>
            <a:ext cx="3530498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71600" y="4133088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・「未引用だが商機あり」の機会を手作業で抽出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・コンテンツ vs PR vs 構造化のどれが効くか判断材料が少ない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・JiraやAsanaへの起票が分断・属人化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02098" y="4133088"/>
            <a:ext cx="3530498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02098" y="4133088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・コンテンツ・Web開発・法務・PMMの4部門横断調整で1施策あたり2〜6週間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・Schema/FAQ実装はWeb開発のスプリントに乗りにくい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・著者情報・E-E-A-T準備が想像以上に重い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32596" y="4133088"/>
            <a:ext cx="3530498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32596" y="4133088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・効果反映に4〜8週間のラグでPDCAが遅い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・LLMキャッシュ・学習周期が読めず再計測タイミング属人化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・改修したのに引用されず原因不明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4846320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8600" y="4846320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タッチポイント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0" y="484632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71600" y="484632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プロンプトギャップ画面 / Jira / Notion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02098" y="484632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02098" y="484632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CMS / Figma / Web開発スプリント / コンテンツ会議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32596" y="484632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32596" y="484632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GSC / GEOダッシュボード / Slack共有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" y="5559552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28600" y="5559552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🎯 機会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371600" y="5559552"/>
            <a:ext cx="3530498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371600" y="555955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ギャップ→Jira/Asana自動起票＋ROI予測スコア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902098" y="5559552"/>
            <a:ext cx="3530498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902098" y="555955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CMSへの改修PR自動生成＋AEO対応ライティングAI＋著者プロフィール自動整備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32596" y="5559552"/>
            <a:ext cx="3530498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32596" y="555955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再計測自動スケジューリング＋Before/After自動レポート＋成功事例ナレッジAI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8872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【A】Phase ⑧ 経営レポート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84048"/>
            <a:ext cx="1188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ペルソナA — サブステップ詳細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137160" cy="621792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777240"/>
            <a:ext cx="1143000" cy="50292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777240"/>
            <a:ext cx="11430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観点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77240"/>
            <a:ext cx="3530498" cy="50292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777240"/>
            <a:ext cx="353049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⑧-1 データ集約・解釈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Yu Gothic"/>
              </a:rPr>
              <a:t>前月比3行サマリ生成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02098" y="777240"/>
            <a:ext cx="3530498" cy="50292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2098" y="777240"/>
            <a:ext cx="353049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⑧-2 CMO/役員向けデック作成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Yu Gothic"/>
              </a:rPr>
              <a:t>QBR、ROI物語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32596" y="777240"/>
            <a:ext cx="3530498" cy="50292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2596" y="777240"/>
            <a:ext cx="353049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⑧-3 経営会議プレゼン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Yu Gothic"/>
              </a:rPr>
              <a:t>予算交渉・次期計画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280160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1280160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タスク／ジョブ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128016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128016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GEOツール×GA4×CRM(Salesforce)×コンテンツKPIを統合、経営向け3行サマリ生成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02098" y="128016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02098" y="128016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QBR用デック作成(Visibility Radar / Heatmap / Stack Ranking / 競合差分 / ROI / 次四半期計画)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2596" y="128016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2596" y="128016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経営会議でプレゼン、想定質問対応、次期予算・人員リソース要求、四半期計画合意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1993392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" y="1993392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行動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1993392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199339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各ツールエクスポート、Looker/スプレッドシート集約、GEO→AI流入→MQL→SQL→パイプラインのファネル接続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02098" y="1993392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02098" y="199339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スライド構成(Executive Summary / Goals vs Results / Funnel Health / SoV / 競合 / 次期計画)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2596" y="1993392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2596" y="199339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役員プレゼン、Q&amp;A対応、CMOから上層部・取締役会への展開、人員・予算交渉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2706624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" y="2706624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思考・問い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0" y="2706624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2706624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「経営は400行のプロンプトログを見ない、3行で要約が必要」「AI Visibility → 売上の因果をどう示すか」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02098" y="2706624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02098" y="2706624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「Visibility Radarは見栄えはいいが、説得力は弱い」「ROIストーリーをどう組み立てるか」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2596" y="2706624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2596" y="2706624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「予算削減リスクをどう抑えるか」「来期人員(コンテンツ・スキーマ専門)どう確保するか」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3419856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" y="3419856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感情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0" y="3419856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71600" y="3419856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😬 集約地獄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02098" y="3419856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02098" y="3419856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🧠 ストーリーテリング集中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32596" y="3419856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32596" y="3419856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😰 緊張・プレッシャー／😌 承認時の安堵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4133088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8600" y="4133088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🔥 ペイン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71600" y="4133088"/>
            <a:ext cx="3530498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71600" y="4133088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・ツールが分断しており、データ統合に毎月8〜20時間消費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・GEO→売上の因果推論手法が確立していない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・指標粒度が経営×実務でずれる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02098" y="4133088"/>
            <a:ext cx="3530498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02098" y="4133088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・スライド作成に毎月数日〜1週間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・ROI物語の型がなく毎回ゼロから構成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・他チャネル(広告、PR、SEO)との寄与按分が困難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32596" y="4133088"/>
            <a:ext cx="3530498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32596" y="4133088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・「AIO/GEOは金になるのか」を疑う役員への説明難度が高い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・予算ROIで負けると即座に投資縮小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・成果に時間ラグがあるため毎四半期説明が消耗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4846320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8600" y="4846320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タッチポイント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0" y="484632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71600" y="484632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Looker / GEOツール / スプレッドシート / Salesforce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02098" y="484632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02098" y="484632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PowerPoint/Keynote / Figma / 社内レビュー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32596" y="484632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32596" y="484632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経営会議 / 取締役会 / 1on1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" y="5559552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28600" y="5559552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🎯 機会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371600" y="5559552"/>
            <a:ext cx="3530498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371600" y="555955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CMO向け3行サマリ自動生成＋AI Visibility→Pipelineアトリビューション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902098" y="5559552"/>
            <a:ext cx="3530498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902098" y="555955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QBRデック自動生成＋ROI物語構築AI(過去成功事例DBから類似ストーリー提示)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32596" y="5559552"/>
            <a:ext cx="3530498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32596" y="555955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役員想定質問Q&amp;Aジェネレータ＋他チャネル按分モデル＋業界ベンチマーク自動引用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96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Yu Gothic"/>
              </a:rPr>
              <a:t>【ペルソナB】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Yu Gothic"/>
              </a:rPr>
              <a:t>デジタル広告代理店担当者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Yu Gothic"/>
              </a:rPr>
              <a:t>大手SaaSクライアント担当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8872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【ペルソナB】デジタル広告代理店担当者(大手SaaSクライアント担当)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84048"/>
            <a:ext cx="1188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ペルソナ詳細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137160" cy="6217920"/>
          </a:xfrm>
          <a:prstGeom prst="rect">
            <a:avLst/>
          </a:prstGeom>
          <a:solidFill>
            <a:srgbClr val="C96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2468880" cy="50292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24688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想定ロール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914400"/>
            <a:ext cx="8961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914400"/>
            <a:ext cx="89611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Yu Gothic"/>
              </a:rPr>
              <a:t>Account Director / GEO Lead(兼 SEOマネージャ) 30代前半〜後半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2468880" cy="50292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17320"/>
            <a:ext cx="24688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所属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417320"/>
            <a:ext cx="8961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417320"/>
            <a:ext cx="89611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Yu Gothic"/>
              </a:rPr>
              <a:t>50〜300名規模のデジタル運用代理店(パフォーマンス・SEO・コンテンツを提供)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920240"/>
            <a:ext cx="2468880" cy="50292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920240"/>
            <a:ext cx="24688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上司ライン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1920240"/>
            <a:ext cx="8961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1920240"/>
            <a:ext cx="89611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Yu Gothic"/>
              </a:rPr>
              <a:t>Group Director → VP / Partner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423160"/>
            <a:ext cx="2468880" cy="50292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423160"/>
            <a:ext cx="24688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個人KGI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2423160"/>
            <a:ext cx="8961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2423160"/>
            <a:ext cx="89611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Yu Gothic"/>
              </a:rPr>
              <a:t>クライアントリテンション、新規受注、リテイナー単価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926080"/>
            <a:ext cx="2468880" cy="50292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926080"/>
            <a:ext cx="24688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個人KPI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2926080"/>
            <a:ext cx="8961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2926080"/>
            <a:ext cx="89611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Yu Gothic"/>
              </a:rPr>
              <a:t>アカウント数、月次リテイナー、解約率、NPS、提案勝率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429000"/>
            <a:ext cx="2468880" cy="50292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429000"/>
            <a:ext cx="24688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チーム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3429000"/>
            <a:ext cx="8961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3429000"/>
            <a:ext cx="89611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Yu Gothic"/>
              </a:rPr>
              <a:t>アカウント担当・SEOアナリスト・コンテンツライター(外部含む)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931920"/>
            <a:ext cx="2468880" cy="50292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931920"/>
            <a:ext cx="24688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担当クライアント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931920"/>
            <a:ext cx="8961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3931920"/>
            <a:ext cx="89611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Yu Gothic"/>
              </a:rPr>
              <a:t>大手B2B SaaS 5〜12社、月額$3k〜$30kリテイナー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434840"/>
            <a:ext cx="2468880" cy="50292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434840"/>
            <a:ext cx="24688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</a:rPr>
              <a:t>既存ツール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4434840"/>
            <a:ext cx="8961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34640" y="4434840"/>
            <a:ext cx="89611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Yu Gothic"/>
              </a:rPr>
              <a:t>Semrush / Ahrefs / GA4 / Looker Studio / Google Workspace / Slack / Asana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8872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【ペルソナB】ジャーニー全体像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84048"/>
            <a:ext cx="1188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ジャーニー全体像(サブステップ分解外フェーズ)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137160" cy="6217920"/>
          </a:xfrm>
          <a:prstGeom prst="rect">
            <a:avLst/>
          </a:prstGeom>
          <a:solidFill>
            <a:srgbClr val="C96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2377440" cy="118872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237744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① サービスライン化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822960"/>
            <a:ext cx="91440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822960"/>
            <a:ext cx="914400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Yu Gothic"/>
              </a:rPr>
              <a:t>GEO/AEOを既存SEO/広告に追加する商品設計、価格表、SOP整備。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Yu Gothic"/>
              </a:rPr>
              <a:t>【ペイン】GEOの正解SOPがまだ業界に存在しない／既存SEOチームのリスキル必要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11680"/>
            <a:ext cx="2377440" cy="118872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011680"/>
            <a:ext cx="237744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② 提案・受注(ピッチ)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2011680"/>
            <a:ext cx="91440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011680"/>
            <a:ext cx="914400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Yu Gothic"/>
              </a:rPr>
              <a:t>見込み客に「AI上での御社の現状」を可視化して提案。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Yu Gothic"/>
              </a:rPr>
              <a:t>【ペイン】無料Pitch環境がないと差別化困難／意思決定者の決裁ハードルが高い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00400"/>
            <a:ext cx="2377440" cy="118872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200400"/>
            <a:ext cx="237744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③ オンボーディング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3200400"/>
            <a:ext cx="91440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0" y="3200400"/>
            <a:ext cx="914400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Yu Gothic"/>
              </a:rPr>
              <a:t>契約締結、KPI合意、エンティティ・ICP・競合のヒアリング。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Yu Gothic"/>
              </a:rPr>
              <a:t>【ペイン】クライアントごとにツール再設定の工数／シート課金のツールはチーム全員に配れない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389120"/>
            <a:ext cx="2377440" cy="118872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389120"/>
            <a:ext cx="237744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⑧ 更新・アップセル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4389120"/>
            <a:ext cx="91440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1760" y="4389120"/>
            <a:ext cx="914400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Yu Gothic"/>
              </a:rPr>
              <a:t>四半期レビュー、追加スコープ提案、解約防止。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Yu Gothic"/>
              </a:rPr>
              <a:t>【ペイン】売上アトリビューションが弱いと更新不能／Sentiment悪化やSoV低下で即詰問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577840"/>
            <a:ext cx="2377440" cy="118872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5577840"/>
            <a:ext cx="237744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⑨ ポートフォリオ拡大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5577840"/>
            <a:ext cx="91440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760" y="5577840"/>
            <a:ext cx="914400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Yu Gothic"/>
              </a:rPr>
              <a:t>業界横展開・新規ピッチ・ケーススタディ作成。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Yu Gothic"/>
              </a:rPr>
              <a:t>【ペイン】他社事例を出せないNDA問題／人材採用が追いつかず案件断念／大手代理店との価格競争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8872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【B】Phase ④ 戦略構築・ベースライン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84048"/>
            <a:ext cx="1188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ペルソナB — サブステップ詳細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137160" cy="6217920"/>
          </a:xfrm>
          <a:prstGeom prst="rect">
            <a:avLst/>
          </a:prstGeom>
          <a:solidFill>
            <a:srgbClr val="C96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777240"/>
            <a:ext cx="1143000" cy="50292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777240"/>
            <a:ext cx="11430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観点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77240"/>
            <a:ext cx="3530498" cy="50292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777240"/>
            <a:ext cx="353049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④-1 エンティティマッピング・競合分析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02098" y="777240"/>
            <a:ext cx="3530498" cy="50292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2098" y="777240"/>
            <a:ext cx="353049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④-2 マネープロンプト選定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Yu Gothic"/>
              </a:rPr>
              <a:t>10〜30本→拡張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32596" y="777240"/>
            <a:ext cx="3530498" cy="50292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2596" y="777240"/>
            <a:ext cx="353049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④-3 ベースライン取得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Yu Gothic"/>
              </a:rPr>
              <a:t>KPI／ロードマップ合意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280160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1280160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タスク／ジョブ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128016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128016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クライアントブランドのKnowledge Graph位置確認、競合エンティティ・引用元ページの構造分析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02098" y="128016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02098" y="128016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クライアントの売上ドライバーに直結するMoney Prompt(10〜30本)を選定、その後ファネル別に300本へ拡張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2596" y="128016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2596" y="128016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全プロンプトを4 LLMで一斉実行→ベースライン記録、KPIと90日ロードマップをクライアント承認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1993392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" y="1993392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行動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1993392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199339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クライアントPMM/PRと壁打ち、Wikidata/Wikipedia/レビューサイト調査、競合の被引用ページを構造分解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02098" y="1993392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02098" y="199339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クライアントCRM Top商談・営業の生質問・CSのFAQから抽出、ICP×ファネル×プロダクトでマトリクス化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2596" y="1993392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2596" y="199339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レポートテンプレ展開、KPI(Mention/Citation/SoV/Sentiment)合意、改修ロードマップ提示、契約スコープ確定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2706624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" y="2706624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思考・問い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0" y="2706624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2706624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「自社クライアントが競合より構造的に弱い理由を1枚絵で示したい」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02098" y="2706624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02098" y="2706624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「30本に絞り込むのが難しい」「担当者と意思決定者で関心プロンプトが違う」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2596" y="2706624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2596" y="2706624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「ベースラインで期待値ズレが起きないように説明したい」「90日で見える成果は何か事前に握りたい」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3419856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" y="3419856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感情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0" y="3419856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71600" y="3419856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🧠 分析・発見モード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02098" y="3419856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02098" y="3419856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🤔 取捨選択の悩み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32596" y="3419856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32596" y="3419856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😎 提案ピーク／😬 期待値調整プレッシャー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4133088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8600" y="4133088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🔥 ペイン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71600" y="4133088"/>
            <a:ext cx="3530498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71600" y="4133088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・KG/Wikidata/外部レビュー含めたエンティティ全体像を見るツールが分断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・競合の被引用ページ構造分析が手作業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・コンサル工数が見積を超過しやすい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02098" y="4133088"/>
            <a:ext cx="3530498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02098" y="4133088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・Money Promptに正解がなく属人的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・クライアントの営業データへのアクセスが限定的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・プロンプトをファネル拡張する自動化がない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32596" y="4133088"/>
            <a:ext cx="3530498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32596" y="4133088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・ベースライン提示で「思ったより低い」と落胆される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・90日ロードマップに根拠データが弱いと契約スコープ縮小される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・KPI合意に複数MTGが必要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4846320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8600" y="4846320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タッチポイント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0" y="484632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71600" y="484632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Wikidata / 競合サイト / Notion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02098" y="484632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02098" y="484632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クライアントCRM / 営業MTG / プロンプト管理画面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32596" y="484632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32596" y="484632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キックオフ報告会 / 提案資料 / 契約書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" y="5559552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28600" y="5559552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🎯 機会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371600" y="5559552"/>
            <a:ext cx="3530498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371600" y="555955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エンティティ統合ダッシュボード＋競合構造分解AI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902098" y="5559552"/>
            <a:ext cx="3530498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902098" y="555955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クライアントCRM/HubSpot連携でMoney Prompt自動抽出AI＋ファネル拡張AI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32596" y="5559552"/>
            <a:ext cx="3530498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32596" y="555955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ベースライン期待値マネジメントテンプレ＋90日ロードマップ自動生成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8872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【B】Phase ⑤ 多クライアント並行運用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84048"/>
            <a:ext cx="1188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ペルソナB — サブステップ詳細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137160" cy="6217920"/>
          </a:xfrm>
          <a:prstGeom prst="rect">
            <a:avLst/>
          </a:prstGeom>
          <a:solidFill>
            <a:srgbClr val="C96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777240"/>
            <a:ext cx="1143000" cy="50292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777240"/>
            <a:ext cx="11430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観点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77240"/>
            <a:ext cx="3530498" cy="50292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777240"/>
            <a:ext cx="353049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⑤-1 ポートフォリオ巡回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Yu Gothic"/>
              </a:rPr>
              <a:t>信号灯・優先度判定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02098" y="777240"/>
            <a:ext cx="3530498" cy="50292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2098" y="777240"/>
            <a:ext cx="353049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⑤-2 アラートトリアージ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Yu Gothic"/>
              </a:rPr>
              <a:t>SLA管理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32596" y="777240"/>
            <a:ext cx="3530498" cy="50292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2596" y="777240"/>
            <a:ext cx="353049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⑤-3 週次レビュー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Yu Gothic"/>
              </a:rPr>
              <a:t>社内QA・スコープ管理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280160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1280160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タスク／ジョブ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128016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128016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朝一でマルチクライアントダッシュボードを確認、緑/黄/赤でクライアント分類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02098" y="128016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02098" y="128016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クライアントごとSLAに合わせてアラートをトリアージ、担当者へルーティング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2596" y="128016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2596" y="128016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週次社内レビュー、各クライアントQA(プロンプト健全性、データ整合)、スコープ外作業のチェック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1993392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" y="1993392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行動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1993392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199339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ダッシュボード一覧表示、Slackで担当者にエスカレ、CS担当との同期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02098" y="1993392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02098" y="199339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アラート優先度マトリクス、Slack/メール/Asanaで担当アサイン、対応履歴記録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2596" y="1993392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2596" y="199339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週次MTG、データ品質チェック、契約範囲再確認、超過工数の上長相談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2706624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" y="2706624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思考・問い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0" y="2706624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2706624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「今日触るべきは5社中どこか」「赤クライアントが3社あると詰む」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02098" y="2706624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02098" y="2706624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「このアラートはクライアント報告すべきか自社で吸収か」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2596" y="2706624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2596" y="2706624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「スコープ外作業を吸収しすぎて利益率悪化していないか」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3419856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" y="3419856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感情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0" y="3419856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71600" y="3419856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😵 マルチタスク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02098" y="3419856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02098" y="3419856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🚨 緊急対応・優先順位ストレス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32596" y="3419856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32596" y="3419856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😩 収益性プレッシャー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4133088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8600" y="4133088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🔥 ペイン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71600" y="4133088"/>
            <a:ext cx="3530498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71600" y="4133088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・マルチクライアントダッシュボード非対応ツールでは毎回切替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・クライアントごとKPI閾値が異なる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・シート課金だとチーム全員に渡せない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02098" y="4133088"/>
            <a:ext cx="3530498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02098" y="4133088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・アラート粒度がクライアントニーズと合わない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・SLA違反リスクの可視化なし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・対応履歴が個人Slack/メールに分散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32596" y="4133088"/>
            <a:ext cx="3530498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32596" y="4133088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・プロンプト枠が固定だと配分の融通効かず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・スコープ外対応が利益を圧迫するが断りづらい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・社内QA基準が属人的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4846320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8600" y="4846320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タッチポイント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0" y="484632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71600" y="484632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マルチテナント管理画面 / Slack / Asana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02098" y="484632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02098" y="484632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アラート管理 / メール / クライアントSlackコネクト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32596" y="484632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32596" y="484632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週次MTG / Notion SOP / 工数管理ツール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" y="5559552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28600" y="5559552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🎯 機会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371600" y="5559552"/>
            <a:ext cx="3530498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371600" y="555955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マルチテナント＋信号灯ビュー＋全プラン無制限シート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902098" y="5559552"/>
            <a:ext cx="3530498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902098" y="555955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アラート優先度AI(クライアントSLA連携)＋対応履歴の自動記録・引き継ぎ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32596" y="5559552"/>
            <a:ext cx="3530498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32596" y="555955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クレジット制(プロンプト枠を流動配分)＋SOP自動QAチェック＋スコープ超過アラート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8872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【B】Phase ⑥ コンテンツ・最適化納品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84048"/>
            <a:ext cx="1188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ペルソナB — サブステップ詳細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137160" cy="6217920"/>
          </a:xfrm>
          <a:prstGeom prst="rect">
            <a:avLst/>
          </a:prstGeom>
          <a:solidFill>
            <a:srgbClr val="C96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777240"/>
            <a:ext cx="1143000" cy="50292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777240"/>
            <a:ext cx="11430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観点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77240"/>
            <a:ext cx="3530498" cy="50292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777240"/>
            <a:ext cx="353049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⑥-1 ブリーフ作成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Yu Gothic"/>
              </a:rPr>
              <a:t>被引用構造に書ける指示書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02098" y="777240"/>
            <a:ext cx="3530498" cy="50292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2098" y="777240"/>
            <a:ext cx="353049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⑥-2 制作・QA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Yu Gothic"/>
              </a:rPr>
              <a:t>Schema・ファクト・スキャン性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32596" y="777240"/>
            <a:ext cx="3530498" cy="50292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2596" y="777240"/>
            <a:ext cx="353049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⑥-3 公開・クライアント承認・再計測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280160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1280160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タスク／ジョブ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128016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128016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プロンプトギャップ→改修対象ページ→ブリーフ作成(質問形H2、回答サマリ、原子段落、Schema要件、引用源指定)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02098" y="128016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02098" y="128016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外部ライター発注、ファクトチェック、Schema検証、スキャン性レビュー、ブランドトーン整合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2596" y="128016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2596" y="128016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クライアントレビュー→修正→公開→GSC再クロール→4〜8週間後再計測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1993392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" y="1993392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行動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1993392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199339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競合被引用ページ参照、被引用形式テンプレ展開、ライターアサイン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02098" y="1993392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02098" y="199339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ブリーフ送付、ドラフト受領、QAチェックリスト適用、Schema妥当性検証ツール、社内ピアレビュー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2596" y="1993392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2596" y="199339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クライアントへ提出、修正対応、CMS入稿、GEOツールで再プロンプト実行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2706624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" y="2706624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思考・問い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0" y="2706624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2706624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「LLMに引用される具体的構造をライターに伝えるのが難しい」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02098" y="2706624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02098" y="2706624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「ファクトの正確性とAEO最適化を両立させる工数が大きい」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2596" y="2706624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2596" y="2706624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「クライアント承認に2〜3週間かかる」「再計測で結果が出ない場合の言い訳をどう用意するか」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3419856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" y="3419856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感情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0" y="3419856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71600" y="3419856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🧠 設計集中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02098" y="3419856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02098" y="3419856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🔥 納期プレッシャー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32596" y="3419856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32596" y="3419856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😬 承認待ちストレス／📈 結果待ち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4133088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8600" y="4133088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🔥 ペイン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71600" y="4133088"/>
            <a:ext cx="3530498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71600" y="4133088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・AEO対応ブリーフのテンプレが業界に確立されていない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・ライター毎に品質ばらつき大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・被引用構造の勝ちパターンが言語化されていない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02098" y="4133088"/>
            <a:ext cx="3530498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02098" y="4133088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・Schema実装はクライアントWeb開発の協力必須だが優先順位後回し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・ファクトチェック工数が読めない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・ブランドトーンとAEO最適化の衝突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32596" y="4133088"/>
            <a:ext cx="3530498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32596" y="4133088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・クライアント承認プロセスが長く納期スリップ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・4〜8週間ラグで結果証明が遅い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・効果が出ない場合の説明が毎回ゼロから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4846320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8600" y="4846320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タッチポイント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0" y="484632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71600" y="484632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ブリーフドキュメント / Notion / Figma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02098" y="484632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02098" y="484632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ライターSlack / Google Docs / Schema検証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32596" y="484632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32596" y="484632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クライアントメール / CMS / GEOツール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" y="5559552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28600" y="5559552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🎯 機会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371600" y="5559552"/>
            <a:ext cx="3530498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371600" y="555955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AEOブリーフ自動生成AI＋勝ちパターンライブラリ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902098" y="5559552"/>
            <a:ext cx="3530498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902098" y="555955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Schema自動生成・検証＋AEO対応QAチェックリスト自動適用＋ライタートレーニング教材同梱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32596" y="5559552"/>
            <a:ext cx="3530498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32596" y="555955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クライアント承認ワークフロー＋再計測自動化＋結果未達時の原因分析AI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8872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【B】Phase ⑦ 月次レポーティング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84048"/>
            <a:ext cx="1188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ペルソナB — サブステップ詳細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137160" cy="6217920"/>
          </a:xfrm>
          <a:prstGeom prst="rect">
            <a:avLst/>
          </a:prstGeom>
          <a:solidFill>
            <a:srgbClr val="C96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777240"/>
            <a:ext cx="1143000" cy="50292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777240"/>
            <a:ext cx="11430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観点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77240"/>
            <a:ext cx="3530498" cy="50292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777240"/>
            <a:ext cx="353049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⑦-1 データ収集・統合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Yu Gothic"/>
              </a:rPr>
              <a:t>複数ソース×複数クライアント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02098" y="777240"/>
            <a:ext cx="3530498" cy="50292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2098" y="777240"/>
            <a:ext cx="353049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⑦-2 ホワイトラベルレポート作成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Yu Gothic"/>
              </a:rPr>
              <a:t>コメント・推奨アクション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32596" y="777240"/>
            <a:ext cx="3530498" cy="50292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2596" y="777240"/>
            <a:ext cx="353049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⑦-3 クライアントMTGプレゼン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Yu Gothic"/>
              </a:rPr>
              <a:t>次月プラン合意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280160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1280160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タスク／ジョブ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128016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128016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GEOツール、GA4、GSC、CRM、広告データを各クライアント分集約・整合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02098" y="128016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02098" y="128016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クライアントロゴ・カラーで月次PDF/HTMLレポート生成、サマリコメント・洞察・次月推奨アクションを記述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2596" y="128016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2596" y="128016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クライアントレビューMTGで報告、Q&amp;A対応、次月スコープ・追加施策合意、リテイナー継続確認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1993392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" y="1993392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行動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1993392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199339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データエクスポート、Looker Studio/AgencyAnalytics連携、各クライアント用プリセット適用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02098" y="1993392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02098" y="199339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テンプレレポートに数字差し込み、アナリスト所感記述、Visibility Radar/Heatmap/Stack Ranking構成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2596" y="1993392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2596" y="199339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クライアント担当者・上司・関連部門と月例会、追加プロンプト枠提案、新ブランド追加案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2706624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" y="2706624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思考・問い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0" y="2706624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2706624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「毎月クライアント分のデータ収集に2〜5日かかる」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02098" y="2706624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02098" y="2706624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「3社で似たコメントを書き分けねばならず、品質ばらつき発生」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2596" y="2706624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2596" y="2706624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「数字伸び悩み時の説明が肝」「アップセル提案を入れたいが時間配分難しい」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3419856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" y="3419856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感情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0" y="3419856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71600" y="3419856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😩 集約地獄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02098" y="3419856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02098" y="3419856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🧠 ストーリーテリング・🥱 反復作業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32596" y="3419856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32596" y="3419856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😬 解約リスク不安／🚀 アップセル機会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4133088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8600" y="4133088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🔥 ペイン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71600" y="4133088"/>
            <a:ext cx="3530498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71600" y="4133088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・データソース分断で毎月収集に膨大工数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・クライアントごとデータ構造が微妙に違う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・シート課金でチームに渡せず1名に集中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02098" y="4133088"/>
            <a:ext cx="3530498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02098" y="4133088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・完全ホワイトラベル対応ツールが少ない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・コメント・推奨アクションのテキスト生成が手作業で月数十時間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・テンプレ化するとクライアントから「定型的」と不評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32596" y="4133088"/>
            <a:ext cx="3530498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32596" y="4133088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・ROI証明が弱いと即解約・予算削減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・アップセル提案の根拠データ準備に追加工数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・複数クライアントの月例MTGが集中して時間枯渇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4846320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8600" y="4846320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タッチポイント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0" y="484632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71600" y="484632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Looker Studio / AgencyAnalytics / 各種ツールAPI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02098" y="484632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02098" y="484632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レポートテンプレ / DashThis / PDF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32596" y="4846320"/>
            <a:ext cx="3530498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32596" y="4846320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Zoom / クライアント会議室 / 提案資料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" y="5559552"/>
            <a:ext cx="114300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28600" y="5559552"/>
            <a:ext cx="114300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🎯 機会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371600" y="5559552"/>
            <a:ext cx="3530498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371600" y="555955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マルチソース自動統合＋クライアント別プリセット＋全データAPI/MCP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902098" y="5559552"/>
            <a:ext cx="3530498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902098" y="555955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完全ホワイトラベル＋所感コメント生成AI(定型回避＋クライアント業界特化)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32596" y="5559552"/>
            <a:ext cx="3530498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32596" y="5559552"/>
            <a:ext cx="3530498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収益アトリビューション(GA4/CRM連携でROI継続証明)＋アップセル提案AI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Yu Gothic"/>
              </a:rPr>
              <a:t>プロダクト示唆まとめ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8872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サブステップレベルでの追加機会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84048"/>
            <a:ext cx="1188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プロダクト示唆まとめ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548640" cy="41148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548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777240"/>
            <a:ext cx="1828800" cy="41148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777240"/>
            <a:ext cx="1828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サブフェーズ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777240"/>
            <a:ext cx="3200400" cy="41148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777240"/>
            <a:ext cx="3200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機会の本質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777240"/>
            <a:ext cx="6035040" cy="41148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777240"/>
            <a:ext cx="60350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解決策(プロダクト要件)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188720"/>
            <a:ext cx="5486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188720"/>
            <a:ext cx="54864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222222"/>
                </a:solidFill>
                <a:latin typeface="Yu Gothic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1188720"/>
            <a:ext cx="182880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188720"/>
            <a:ext cx="18288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A⑤-2／B④-2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1188720"/>
            <a:ext cx="3200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1188720"/>
            <a:ext cx="32004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プロンプト選定の属人性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1188720"/>
            <a:ext cx="6035040" cy="594360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1188720"/>
            <a:ext cx="603504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CRM/Gong/Salesforce連携でMoney Prompt自動抽出AI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783080"/>
            <a:ext cx="5486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1783080"/>
            <a:ext cx="54864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222222"/>
                </a:solidFill>
                <a:latin typeface="Yu Gothic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1783080"/>
            <a:ext cx="182880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1783080"/>
            <a:ext cx="18288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A⑥-1／B⑤-2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1783080"/>
            <a:ext cx="3200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783080"/>
            <a:ext cx="32004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アラートのノイズ過多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1783080"/>
            <a:ext cx="6035040" cy="594360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0" y="1783080"/>
            <a:ext cx="603504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シグナル要約Agent(本物の異変だけ抽出、確率変動を除外)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377440"/>
            <a:ext cx="5486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2377440"/>
            <a:ext cx="54864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222222"/>
                </a:solidFill>
                <a:latin typeface="Yu Gothic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2377440"/>
            <a:ext cx="182880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2377440"/>
            <a:ext cx="18288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A⑦-2／B⑥-2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2377440"/>
            <a:ext cx="3200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2377440"/>
            <a:ext cx="32004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コンテンツ改修の部門横断停滞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60" y="2377440"/>
            <a:ext cx="6035040" cy="594360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2160" y="2377440"/>
            <a:ext cx="603504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CMSへの改修PR自動起票(Schema・FAQ・原子段落)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971800"/>
            <a:ext cx="5486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2971800"/>
            <a:ext cx="54864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222222"/>
                </a:solidFill>
                <a:latin typeface="Yu Gothic"/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2971800"/>
            <a:ext cx="182880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2971800"/>
            <a:ext cx="18288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A⑧-1／B⑦-2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51760" y="2971800"/>
            <a:ext cx="3200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51760" y="2971800"/>
            <a:ext cx="32004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経営/クライアント向け文章生成負荷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52160" y="2971800"/>
            <a:ext cx="6035040" cy="594360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52160" y="2971800"/>
            <a:ext cx="603504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3行サマリ自動生成＋ROI物語AI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566160"/>
            <a:ext cx="5486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3566160"/>
            <a:ext cx="54864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222222"/>
                </a:solidFill>
                <a:latin typeface="Yu Gothic"/>
              </a:rPr>
              <a:t>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3566160"/>
            <a:ext cx="182880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3566160"/>
            <a:ext cx="18288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A⑧-3／B⑦-3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51760" y="3566160"/>
            <a:ext cx="3200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51760" y="3566160"/>
            <a:ext cx="32004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ROI証明が継続できない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52160" y="3566160"/>
            <a:ext cx="6035040" cy="594360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52160" y="3566160"/>
            <a:ext cx="603504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AI Visibility→Pipeline/Revenueアトリビューション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160520"/>
            <a:ext cx="5486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" y="4160520"/>
            <a:ext cx="54864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222222"/>
                </a:solidFill>
                <a:latin typeface="Yu Gothic"/>
              </a:rPr>
              <a:t>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60" y="4160520"/>
            <a:ext cx="182880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" y="4160520"/>
            <a:ext cx="18288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A⑦-3／B⑥-3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51760" y="4160520"/>
            <a:ext cx="3200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51760" y="4160520"/>
            <a:ext cx="32004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効果計測ラグの不可視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52160" y="4160520"/>
            <a:ext cx="6035040" cy="594360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852160" y="4160520"/>
            <a:ext cx="603504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再計測自動スケジューリング＋未達原因分析AI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4754880"/>
            <a:ext cx="5486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4320" y="4754880"/>
            <a:ext cx="54864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222222"/>
                </a:solidFill>
                <a:latin typeface="Yu Gothic"/>
              </a:rPr>
              <a:t>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2960" y="4754880"/>
            <a:ext cx="182880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" y="4754880"/>
            <a:ext cx="18288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B⑤-1／B⑦-1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651760" y="4754880"/>
            <a:ext cx="3200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51760" y="4754880"/>
            <a:ext cx="32004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多クライアント運用効率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852160" y="4754880"/>
            <a:ext cx="6035040" cy="594360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852160" y="4754880"/>
            <a:ext cx="603504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マルチテナント＋クレジット制＋無制限シート＋完全ホワイトラベル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5349240"/>
            <a:ext cx="5486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4320" y="5349240"/>
            <a:ext cx="54864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222222"/>
                </a:solidFill>
                <a:latin typeface="Yu Gothic"/>
              </a:rPr>
              <a:t>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2960" y="5349240"/>
            <a:ext cx="182880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2960" y="5349240"/>
            <a:ext cx="18288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B⑥-1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651760" y="5349240"/>
            <a:ext cx="3200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51760" y="5349240"/>
            <a:ext cx="32004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AEO対応ブリーフが書けない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852160" y="5349240"/>
            <a:ext cx="6035040" cy="594360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852160" y="5349240"/>
            <a:ext cx="603504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AEOブリーフ自動生成＋勝ちパターンライブラリ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