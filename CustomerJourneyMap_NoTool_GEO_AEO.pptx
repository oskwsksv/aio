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【ツール非導入時】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カスタマージャーニーマップ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800" b="0">
                <a:solidFill>
                  <a:srgbClr val="E8EEF7"/>
                </a:solidFill>
                <a:latin typeface="Yu Gothic"/>
              </a:rPr>
              <a:t>GEO / AEO 領域 (専用ツール非導入時の手動運用)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E8EEF7"/>
                </a:solidFill>
                <a:latin typeface="Yu Gothic"/>
              </a:rPr>
              <a:t>ベンチマーク3社のような専用ツールを使わず、Web UI＋Sheets＋汎用ツールで運用するケース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E8EEF7"/>
                </a:solidFill>
                <a:latin typeface="Yu Gothic"/>
              </a:rPr>
              <a:t>2026年5月 作成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【ペルソナA】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Yu Gothic"/>
              </a:rPr>
              <a:t>大手SaaS企業 デジタルマーケ部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Yu Gothic"/>
              </a:rPr>
              <a:t>GEO/AEO担当者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【ペルソナA】手動運用の前提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前提:手動運用時のリソース・スタック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37160" cy="6263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200400" cy="77724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32004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担当人数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005840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005840"/>
            <a:ext cx="85039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兼任1名(既存SEO担当の片手間)、エンジニア協力 月数時間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83080"/>
            <a:ext cx="3200400" cy="77724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32004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使用ツール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783080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783080"/>
            <a:ext cx="85039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ChatGPT/Perplexity/Gemini/Claude のWeb UI、Google Sheets、Looker Studio、Semrush/Ahrefs、GA4、Search Console、Notion、Schema.org検証ツール、自作Pythonスクリプト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60320"/>
            <a:ext cx="3200400" cy="77724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60320"/>
            <a:ext cx="32004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計測対象プロンプト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560320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560320"/>
            <a:ext cx="85039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20〜50本(手作業の限界) ←→ ツール導入時 300〜1,000本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37560"/>
            <a:ext cx="3200400" cy="77724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337560"/>
            <a:ext cx="32004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計測頻度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3337560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3337560"/>
            <a:ext cx="85039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月1回の手動更新 ←→ ツール導入時 24時間ごと自動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14800"/>
            <a:ext cx="3200400" cy="77724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114800"/>
            <a:ext cx="32004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経営報告頻度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4114800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4114800"/>
            <a:ext cx="85039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四半期に1回 ←→ ツール導入時 月次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【A】Phase ①〜④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ペルソナA — ツール非導入時 ジャーニー前半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37160" cy="6263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31520"/>
            <a:ext cx="100584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731520"/>
            <a:ext cx="10058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731520"/>
            <a:ext cx="2705023" cy="45720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731520"/>
            <a:ext cx="27050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① 異変認知・問題定義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93743" y="731520"/>
            <a:ext cx="2705023" cy="45720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93743" y="731520"/>
            <a:ext cx="27050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② 情報学習・社内啓蒙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8766" y="731520"/>
            <a:ext cx="2705023" cy="45720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6" y="731520"/>
            <a:ext cx="27050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③ 手動ベースライン調査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03789" y="731520"/>
            <a:ext cx="2705023" cy="45720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3789" y="731520"/>
            <a:ext cx="27050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④ Sheets運用設計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88720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1188720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タスク／ジョブ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118872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118872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CMO質問「ChatGPTで弊社は？」を皮切りに、「測れていない」状態の言語化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93743" y="118872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93743" y="118872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GEO/AEO概念を独学、社内勉強会開催、ベンダーブログ・Xで情報収集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98766" y="118872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8766" y="118872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自社×競合×プロダクトで20〜50プロンプトを起案、ChatGPT/Perplexity/Gemini/Claudeに手動入力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3789" y="118872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3789" y="118872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6カラム構成のSheet設計(Platform/Query/Mention?/Citation URL/Sentiment/Action)、運用ルール文書化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1901952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1901952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行動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1901952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190195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GA4のリファラ調査、社内Slackで議論、CMO 1on1で「現状検討中」と回答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93743" y="1901952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93743" y="190195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Notion個人メモ、外部ウェビナー視聴、SEOチームに共有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98766" y="1901952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8766" y="190195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1プロンプトあたり2〜3分×4モデル×30本=最低6時間 手動入力、スクショ保存、Sheet貼付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03789" y="1901952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03789" y="190195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カラム設計、フィルタ／ピボット作成、関係者にURL共有、入力ルール周知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2615184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2615184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思考・問い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8720" y="2615184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2615184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「測れる前提でCMOが質問してくる…どう答えるか」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93743" y="2615184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93743" y="2615184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「何が業界標準KPIなのかわからない」「日本語事例少ない」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98766" y="2615184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6" y="2615184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「30本でも半日。300本だったら週単位の作業」「手動だと揺らぎなのか変化なのか不明」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03789" y="2615184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03789" y="2615184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「Sheet設計が甘いと後でデータ統合できない」「他メンバーが同じ品質で入力できるか不安」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3328416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2880" y="3328416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感情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88720" y="3328416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88720" y="3328416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😨 焦り・恥ずかしさ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93743" y="3328416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93743" y="3328416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🤔 情報過多・孤独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98766" y="3328416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98766" y="3328416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😩 単純作業疲れ・腱鞘炎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03789" y="3328416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03789" y="3328416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🧐 設計集中／属人化への不安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041648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4041648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🔥 ペイン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88720" y="4041648"/>
            <a:ext cx="2705023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88720" y="4041648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・「測定できていない」自体が説明困難で、CMOから次々質問が来ても応答に時間ラグ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・既存SEOツール(Semrush/Ahrefs)はAI検索をカバーしていない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・GA4/GSCではAI流入がほぼ識別不能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93743" y="4041648"/>
            <a:ext cx="2705023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93743" y="4041648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・GEO/AEO情報がベンダー発信に偏り、客観的な業界標準KPIが不明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・日本語LLM(Felo / Genspark / Perplexity日本語)の事例が極めて少ない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・社内には前例ゼロで勉強しながら設計する孤独感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98766" y="4041648"/>
            <a:ext cx="2705023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98766" y="4041648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・1プロンプトあたり2〜3分×4モデルで物理的に1日30〜50本が限界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・LLMの確率的揺らぎで再現条件を保証できない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・スクショ保存→ファイル名管理→Sheet貼付で時間消費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・国・言語・モデルを変えるたびに人格切替(VPN/別アカウント)が必要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03789" y="4041648"/>
            <a:ext cx="2705023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03789" y="4041648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・Sheetのスキーマが後から変わると過去データと整合せず全部やり直し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・複数人で入力すると入力品質ばらつき(Mention判定基準等)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・フィルタ・ピボット・グラフが管理工数を圧迫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・バージョン管理が破綻(コピー乱立)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754880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82880" y="4754880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タッチポイント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88720" y="475488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88720" y="475488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GA4 / Slack / CMO 1on1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93743" y="475488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93743" y="475488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Notion / X(Twitter) / ウェビナー / SEOチーム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98766" y="475488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98766" y="475488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ChatGPT / Perplexity / Gemini / Claude のWeb UI、スクショフォルダ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03789" y="475488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03789" y="475488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Google Sheets / 関係者MTG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" y="5468112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2880" y="5468112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💡 ツールがあれば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88720" y="5468112"/>
            <a:ext cx="2705023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88720" y="546811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93743" y="5468112"/>
            <a:ext cx="2705023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893743" y="546811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98766" y="5468112"/>
            <a:ext cx="2705023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98766" y="546811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自動プロンプト実行、4モデル横断、揺らぎを統計処理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03789" y="5468112"/>
            <a:ext cx="2705023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03789" y="546811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スキーマ固定、自動入力、バージョン管理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【A】Phase ⑤〜⑧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ペルソナA — ツール非導入時 ジャーニー後半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37160" cy="62636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31520"/>
            <a:ext cx="100584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731520"/>
            <a:ext cx="10058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731520"/>
            <a:ext cx="2705023" cy="45720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731520"/>
            <a:ext cx="27050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⑤ 月次手動再計測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93743" y="731520"/>
            <a:ext cx="2705023" cy="45720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93743" y="731520"/>
            <a:ext cx="27050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⑥ 手動コンテンツ改修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8766" y="731520"/>
            <a:ext cx="2705023" cy="45720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6" y="731520"/>
            <a:ext cx="27050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⑦ 経営報告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03789" y="731520"/>
            <a:ext cx="2705023" cy="45720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3789" y="731520"/>
            <a:ext cx="27050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⑧ スケール壁・限界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88720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1188720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タスク／ジョブ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118872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118872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同じプロンプトを月1で手動再実行、結果をSheetに入力、前月比手作業計算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93743" y="118872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93743" y="118872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プロンプトギャップから改修対象を選定、ライターにブリーフ作成、Schema実装をWeb開発に依頼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98766" y="118872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8766" y="118872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四半期の経営会議用に、Sheetsから手作業でグラフ作成、CMO向け3行サマリ起草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3789" y="118872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3789" y="118872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プロンプト100本超への拡張・多言語化・サブブランド対応の検討で詰まる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1901952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1901952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行動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1901952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190195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全プロンプト再実行、過去結果と比較、変化があれば赤字で目立たせる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93743" y="1901952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93743" y="190195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競合の被引用ページを手動分析(目視)、Wordでブリーフ起草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98766" y="1901952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8766" y="190195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Sheetsから数字抽出→PowerPoint→Visibility Radar/積み上げ棒グラフ手作り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03789" y="1901952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03789" y="190195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拡張試算、追加リソース要求の社内提案、自作Pythonスクリプト検討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2615184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2615184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思考・問い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8720" y="2615184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2615184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「先月と本当に同じ条件か？」「ChatGPT仕様変更で結果が変わったらどう判断？」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93743" y="2615184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93743" y="2615184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「LLMに引用される構造が言語化できない」「Schema実装の優先度がスプリントで上がらない」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98766" y="2615184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6" y="2615184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「Visibility Radarをパワポで自作するの何回目？」「経営は本気でこの数字を信じるか」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03789" y="2615184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03789" y="2615184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「もう個人運用の限界。ツール導入の稟議を本気で書くか、諦めるか」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3328416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2880" y="3328416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感情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88720" y="3328416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88720" y="3328416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🥱 反復作業の倦怠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93743" y="3328416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93743" y="3328416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😤 部門横断調整の苦労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98766" y="3328416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98766" y="3328416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😬 説得自信のなさ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03789" y="3328416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03789" y="3328416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😵 燃え尽き／🚪 諦めムード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041648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4041648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🔥 ペイン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88720" y="4041648"/>
            <a:ext cx="2705023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88720" y="4041648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・1モデル仕様変更で過去比較が無効化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・ノイズ(揺らぎ)と本物の変化を分離する手法がない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・差分計算を毎月手動で計算して人為ミス頻発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・競合の被引用ページ調査が手作業で1社あたり半日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・月1の頻度では急変を1ヶ月遅れで気づく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93743" y="4041648"/>
            <a:ext cx="2705023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93743" y="4041648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・「LLMに引用される構造」の業界共通言語化が未整備でブリーフが書けない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・Schema実装はWeb開発のスプリントに乗せられず3〜6ヶ月待ち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・改修後の再計測手段がなく、効果証明できない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・ライター教育コストが大きく毎回ゼロから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98766" y="4041648"/>
            <a:ext cx="2705023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98766" y="4041648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Yu Gothic"/>
              </a:rPr>
              <a:t>・スプレッドシート→PPTの変換に毎回数日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Yu Gothic"/>
              </a:rPr>
              <a:t>・経営は3行で要求するが、データ抽出ロジックの説明に時間取られる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Yu Gothic"/>
              </a:rPr>
              <a:t>・ROI接続できない(AI Visibility→売上の因果が示せない)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Yu Gothic"/>
              </a:rPr>
              <a:t>・業界ベンチマーク不明で自社の立ち位置を経営に伝えられない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Yu Gothic"/>
              </a:rPr>
              <a:t>・競合鮮度が古い(手動更新)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03789" y="4041648"/>
            <a:ext cx="2705023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03789" y="4041648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Yu Gothic"/>
              </a:rPr>
              <a:t>・100本超に拡張するリソース確保不可能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Yu Gothic"/>
              </a:rPr>
              <a:t>・多言語×多リージョン×サブブランドを組み合わせると工数爆発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Yu Gothic"/>
              </a:rPr>
              <a:t>・自作Pythonスクリプトを作っても、LLMのログイン仕様変更で動かなくなる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Yu Gothic"/>
              </a:rPr>
              <a:t>・個人依存で休暇・退職時に運用停止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Yu Gothic"/>
              </a:rPr>
              <a:t>・ナレッジが個人Notionに閉じて横展開不能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754880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82880" y="4754880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タッチポイント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88720" y="475488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88720" y="475488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Sheets / カレンダー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93743" y="475488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93743" y="475488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CMS / Jira / コンテンツ会議 / Schema検証ツール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98766" y="475488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98766" y="475488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PowerPoint / 経営会議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03789" y="475488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03789" y="475488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社内提案書 / Python IDE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" y="5468112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2880" y="5468112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💡 ツールがあれば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88720" y="5468112"/>
            <a:ext cx="2705023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88720" y="546811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24時間自動再実行、ノイズ除去アルゴリズム、変化検知アラート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93743" y="5468112"/>
            <a:ext cx="2705023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893743" y="546811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引用構造ライブラリ、CMS連携PR自動起票、ブリーフAI生成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98766" y="5468112"/>
            <a:ext cx="2705023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98766" y="546811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ダッシュボード自動生成、ROIアトリビューション、業界ベンチマーク同梱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03789" y="5468112"/>
            <a:ext cx="2705023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03789" y="546811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スケール(1,000本以上)、多言語、サブブランド、APIによる自動化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【ペルソナB】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Yu Gothic"/>
              </a:rPr>
              <a:t>デジタル広告代理店担当者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Yu Gothic"/>
              </a:rPr>
              <a:t>大手SaaSクライアント担当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【ペルソナB】手動運用の前提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前提:手動運用時のリソース・スタック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37160" cy="626364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200400" cy="77724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32004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体制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005840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005840"/>
            <a:ext cx="85039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アカウント担当1名＋SEOアナリスト共有0.5名、外部ライター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83080"/>
            <a:ext cx="3200400" cy="77724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32004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使用ツール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783080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783080"/>
            <a:ext cx="85039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各社LLMのWeb UI、Google Sheets(クライアント別タブ)、Looker Studio、AgencyAnalytics、Semrush/Ahrefs、Notion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60320"/>
            <a:ext cx="3200400" cy="77724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60320"/>
            <a:ext cx="32004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担当クライアント数の現実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560320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560320"/>
            <a:ext cx="85039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手動なら同時に最大2〜3社が限界。5社以上は破綻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37560"/>
            <a:ext cx="3200400" cy="77724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337560"/>
            <a:ext cx="32004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クライアントあたりプロンプト数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3337560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3337560"/>
            <a:ext cx="85039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10〜20本(Money Promptのみ) ←→ ツール導入時 300〜1,000本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14800"/>
            <a:ext cx="3200400" cy="77724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114800"/>
            <a:ext cx="32004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月次レポート所要時間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4114800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4114800"/>
            <a:ext cx="85039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Yu Gothic"/>
              </a:rPr>
              <a:t>1社あたり 2〜4日 ←→ ツール導入時 数時間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【B】Phase ①〜④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ペルソナB — ツール非導入時 ジャーニー前半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37160" cy="626364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31520"/>
            <a:ext cx="100584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731520"/>
            <a:ext cx="10058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731520"/>
            <a:ext cx="2705023" cy="45720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731520"/>
            <a:ext cx="27050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① クライアントから問合せ受領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93743" y="731520"/>
            <a:ext cx="2705023" cy="45720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93743" y="731520"/>
            <a:ext cx="27050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② サービス設計(手探り)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8766" y="731520"/>
            <a:ext cx="2705023" cy="45720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6" y="731520"/>
            <a:ext cx="27050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③ ピッチ・受注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03789" y="731520"/>
            <a:ext cx="2705023" cy="45720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3789" y="731520"/>
            <a:ext cx="27050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④ オンボード・ベースライン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88720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1188720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タスク／ジョブ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118872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118872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クライアントCMOから「うちChatGPTで出てる？」と質問。社内で「やります」と回答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93743" y="118872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93743" y="118872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サービスメニュー、価格表、SOPをゼロから設計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98766" y="118872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8766" y="118872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提案資料作成、ピッチ。ChatGPTで競合と並べたスクショを差し込み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3789" y="118872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3789" y="118872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契約締結、KPI合意、Money Prompt 10〜20本を選定、初回手動実行→ベースライン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1901952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1901952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行動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1901952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190195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クライアントメール確認、社内に持ち帰り、上司と相談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93743" y="1901952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93743" y="190195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Notionでサービス定義、SEOチームから知見輸入、価格設定試行錯誤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98766" y="1901952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8766" y="190195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スライド作成、ChatGPT/Perplexityで現状デモ、商談Zoom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03789" y="1901952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03789" y="190195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キックオフMTG、Sheets共有、初回データ取得(1クライアント半日〜1日)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2615184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2615184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思考・問い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8720" y="2615184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2615184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「やる方法はあるが、収益化の型がない」「断ると他社に取られる」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93743" y="2615184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93743" y="2615184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「他社代理店はどうやって型化しているのか」「価格はリテイナーいくらで売れる？」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98766" y="2615184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6" y="2615184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「無料でも見せてあげないと意思決定者の心は掴めない」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03789" y="2615184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03789" y="2615184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「1社設定するだけで半日。これを5社やったら週末まで埋まる」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3328416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2880" y="3328416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感情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88720" y="3328416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88720" y="3328416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🤔 期待半分・不安半分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93743" y="3328416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93743" y="3328416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😣 設計の孤独・焦り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98766" y="3328416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98766" y="3328416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😎 提案ピーク／🥶 ピッチ準備の徹夜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03789" y="3328416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03789" y="3328416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😩 工数地獄スタート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041648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4041648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🔥 ペイン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88720" y="4041648"/>
            <a:ext cx="2705023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88720" y="4041648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・業界共通のサービスSOPが存在せず「やります」と言ったが具体手順を即答できない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・既存SEOチームにAEO/GEO知見ゼロで社内リスキル必要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・クライアントの期待値合意ができない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93743" y="4041648"/>
            <a:ext cx="2705023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93743" y="4041648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・サービスメニュー設計に正解なしで価格・スコープが他社と比較不能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・既存SEOリテイナーとの重複・カニバリが不明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・SOPがないため人によって品質ばらつき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・教育資料・トーク・営業ピッチを全てゼロから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98766" y="4041648"/>
            <a:ext cx="2705023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98766" y="4041648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・無料でAI上の現状を見せる「Pitch環境」を作るために手動で半日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・各LLMでスクショ取って加工してパワポ貼付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・意思決定者が「で、どれぐらい改善できる？」と聞いてもベンチマークがない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・ROI根拠が薄いため値引き交渉に弱い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03789" y="4041648"/>
            <a:ext cx="2705023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03789" y="4041648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・1クライアントの初期セットアップに半日〜1日(プロンプト選定・初回実行・Sheet設計)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・5社受注したら初週はオンボーディングで何もできない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・KPI閾値・期待値合意が毎回ゼロから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・データアクセス(GA4/GSC/CRM)取得に2週間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754880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82880" y="4754880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タッチポイント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88720" y="475488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88720" y="475488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クライアントメール / 上司MTG / 社内Slack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93743" y="475488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93743" y="475488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Notion / 価格表エクセル / 競合代理店ブログ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98766" y="475488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98766" y="475488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提案資料 / ChatGPT / Zoom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03789" y="475488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03789" y="475488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キックオフMTG / Sheets / クライアントSlack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" y="5468112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2880" y="5468112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💡 ツールがあれば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88720" y="5468112"/>
            <a:ext cx="2705023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88720" y="546811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93743" y="5468112"/>
            <a:ext cx="2705023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893743" y="546811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サービスSOPテンプレ、業界価格ベンチマーク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98766" y="5468112"/>
            <a:ext cx="2705023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98766" y="546811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Pitch環境(即発行・期限付き)、業界ベンチマーク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03789" y="5468112"/>
            <a:ext cx="2705023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03789" y="546811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プロンプトAI自動生成、テンプレ一括コピー、CRM自動連携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【B】Phase ⑤〜⑧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ペルソナB — ツール非導入時 ジャーニー後半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37160" cy="6263640"/>
          </a:xfrm>
          <a:prstGeom prst="rect">
            <a:avLst/>
          </a:prstGeom>
          <a:solidFill>
            <a:srgbClr val="C96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31520"/>
            <a:ext cx="100584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731520"/>
            <a:ext cx="10058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観点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731520"/>
            <a:ext cx="2705023" cy="45720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731520"/>
            <a:ext cx="27050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⑤ 多クライアント手動運用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93743" y="731520"/>
            <a:ext cx="2705023" cy="45720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93743" y="731520"/>
            <a:ext cx="27050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⑥ コンテンツ改修指示・QA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8766" y="731520"/>
            <a:ext cx="2705023" cy="45720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6" y="731520"/>
            <a:ext cx="27050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⑦ 月次手動レポート作成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03789" y="731520"/>
            <a:ext cx="2705023" cy="457200"/>
          </a:xfrm>
          <a:prstGeom prst="rect">
            <a:avLst/>
          </a:prstGeom>
          <a:solidFill>
            <a:srgbClr val="2E5C8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3789" y="731520"/>
            <a:ext cx="2705023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⑧ クライアント説明・更新交渉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88720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1188720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タスク／ジョブ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118872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118872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5社並行で月1手動再計測。アラートなしのため週1で「なんとなく確認」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93743" y="118872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93743" y="118872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改修対象ページ特定、ブリーフ手動作成、ライターQA、CMS入稿協議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98766" y="118872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8766" y="118872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クライアントごとSheets→Looker Studio→PDF化、コメント手書き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3789" y="118872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3789" y="118872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月例会で報告、Q&amp;A対応、追加スコープ提案、解約防止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1901952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1901952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行動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1901952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190195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クライアント別Sheetsを巡回、変化を目視、Slackでアラート手送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93743" y="1901952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93743" y="190195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競合被引用ページを手動構造分析、ライターSlack、Schema検証ツール手動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98766" y="1901952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8766" y="190195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クライアント別データエクスポート、コメント執筆、ロゴ・カラー手動差替え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03789" y="1901952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03789" y="190195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月例会Zoom、提案資料、リテイナー継続交渉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2615184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2615184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思考・問い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8720" y="2615184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2615184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「3社目あたりから細部の記憶が混ざる」「アラートなしでは月遅れの気付き」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93743" y="2615184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93743" y="2615184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「ライターごとに構造の理解度が違う。再修正コストが利益を食う」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98766" y="2615184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6" y="2615184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「同じ作業を5社分するのはなんでこんなに時間かかるんだ」「コメントが定型的になる」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03789" y="2615184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03789" y="2615184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「成果が薄い月は数字以外で説明する技術が必要」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3328416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2880" y="3328416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感情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88720" y="3328416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88720" y="3328416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😵 マルチタスク混乱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93743" y="3328416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93743" y="3328416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😤 品質ばらつきへのストレス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98766" y="3328416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98766" y="3328416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😩 反復作業疲労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03789" y="3328416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03789" y="3328416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😬 解約リスク不安／🚀 アップセル狙い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041648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4041648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🔥 ペイン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88720" y="4041648"/>
            <a:ext cx="2705023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88720" y="4041648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Yu Gothic"/>
              </a:rPr>
              <a:t>・プロンプト枠が固定でなくクライアント別管理でSheets構造爆発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Yu Gothic"/>
              </a:rPr>
              <a:t>・Slack/メール/Asana/Notionにアラート分散、SLA違反気付かず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Yu Gothic"/>
              </a:rPr>
              <a:t>・3クライアント目で記憶混乱、入力先間違い頻発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Yu Gothic"/>
              </a:rPr>
              <a:t>・休暇・退職時に運用停止、引継ぎ資料は個人Notion頼み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Yu Gothic"/>
              </a:rPr>
              <a:t>・月1再計測の頻度では競合急伸を月遅れで発見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93743" y="4041648"/>
            <a:ext cx="2705023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93743" y="4041648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・AEO対応ブリーフのテンプレ未確立で毎回属人的に書く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・ライターごとに被引用構造の理解度が異なり再修正コスト膨張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・Schema実装はクライアントWeb開発の協力必要だが優先度低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・改修後の再計測手段がなく「効果あり」を証明できず再修正提案も弱い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98766" y="4041648"/>
            <a:ext cx="2705023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98766" y="4041648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Yu Gothic"/>
              </a:rPr>
              <a:t>・1社あたりレポート作成2〜4日＝5社で半月消える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Yu Gothic"/>
              </a:rPr>
              <a:t>・ロゴ・カラー手動差替え、コメントは似た文章を手書き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Yu Gothic"/>
              </a:rPr>
              <a:t>・Visibility Radar/Heatmap/Stack Rankingを毎月手動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Yu Gothic"/>
              </a:rPr>
              <a:t>・業界ベンチマークを引用したくても自社過去データのみ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Yu Gothic"/>
              </a:rPr>
              <a:t>・白ラベル・独自ドメイン送信を実現するには別途ツール契約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03789" y="4041648"/>
            <a:ext cx="2705023" cy="713232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03789" y="4041648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・ROI証明が弱いと即予算削減・解約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・月例会で「数字伸びてないですね」と言われて回答準備に時間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・アップセル提案根拠データの追加準備でさらに工数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・Sentiment悪化やSoV低下を数字で説明しきれず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Yu Gothic"/>
              </a:rPr>
              <a:t>・他クライアントの月例会と重なると時間枯渇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754880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82880" y="4754880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タッチポイント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88720" y="475488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88720" y="475488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各クライアントSheets / Slack / Asana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893743" y="475488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93743" y="475488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ブリーフドキュメント / ライターSlack / Schema検証ツール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98766" y="475488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98766" y="475488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Looker Studio / PowerPoint / PDF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03789" y="4754880"/>
            <a:ext cx="270502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03789" y="4754880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Zoom / 提案資料 / 契約書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" y="5468112"/>
            <a:ext cx="1005840" cy="713232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2880" y="5468112"/>
            <a:ext cx="1005840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F3A5F"/>
                </a:solidFill>
                <a:latin typeface="Yu Gothic"/>
              </a:rPr>
              <a:t>💡 ツールがあれば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88720" y="5468112"/>
            <a:ext cx="2705023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88720" y="546811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マルチテナント信号灯、SLAアラート、対応履歴自動記録、無制限シート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93743" y="5468112"/>
            <a:ext cx="2705023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893743" y="546811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AEOブリーフ自動生成、Schema自動生成、勝ちパターンライブラリ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98766" y="5468112"/>
            <a:ext cx="2705023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98766" y="546811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完全ホワイトラベル、コメントAI、3社分自動生成、業界ベンチマーク同梱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03789" y="5468112"/>
            <a:ext cx="2705023" cy="713232"/>
          </a:xfrm>
          <a:prstGeom prst="rect">
            <a:avLst/>
          </a:prstGeom>
          <a:solidFill>
            <a:srgbClr val="F0F8E8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03789" y="5468112"/>
            <a:ext cx="2705023" cy="7132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Yu Gothic"/>
              </a:rPr>
              <a:t>収益アトリビューション、アップセル提案AI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ツール非導入時の最大ペイン Top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ツール非導入時の最大ペイン Top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両ペルソナから抽出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73152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7315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ランク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777240"/>
            <a:ext cx="237744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77724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ペイン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777240"/>
            <a:ext cx="365760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777240"/>
            <a:ext cx="3657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影響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777240"/>
            <a:ext cx="512064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777240"/>
            <a:ext cx="51206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構造的原因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34440"/>
            <a:ext cx="731520" cy="9601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234440"/>
            <a:ext cx="73152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Yu Gothic"/>
              </a:rPr>
              <a:t>1位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1234440"/>
            <a:ext cx="2377440" cy="960120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1234440"/>
            <a:ext cx="237744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Yu Gothic"/>
              </a:rPr>
              <a:t>時間消費が桁違い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234440"/>
            <a:ext cx="3657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234440"/>
            <a:ext cx="365760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担当者の80%の時間がデータ収集に消え、戦略業務が消滅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1234440"/>
            <a:ext cx="5120640" cy="96012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234440"/>
            <a:ext cx="512064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LLMがプログラマブルアクセスを十分に提供せず、Web UIが標準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94560"/>
            <a:ext cx="731520" cy="9601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194560"/>
            <a:ext cx="73152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Yu Gothic"/>
              </a:rPr>
              <a:t>2位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2194560"/>
            <a:ext cx="2377440" cy="960120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2194560"/>
            <a:ext cx="237744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Yu Gothic"/>
              </a:rPr>
              <a:t>属人化・知識流出リスク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194560"/>
            <a:ext cx="3657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2194560"/>
            <a:ext cx="365760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担当者の休暇・退職で運用停止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2194560"/>
            <a:ext cx="5120640" cy="96012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2194560"/>
            <a:ext cx="512064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SOPがなく、Sheetsの設計・運用ノウハウが個人脳内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154680"/>
            <a:ext cx="731520" cy="9601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154680"/>
            <a:ext cx="73152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Yu Gothic"/>
              </a:rPr>
              <a:t>3位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3154680"/>
            <a:ext cx="2377440" cy="960120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3154680"/>
            <a:ext cx="237744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Yu Gothic"/>
              </a:rPr>
              <a:t>ノイズ vs シグナルの分離不能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3154680"/>
            <a:ext cx="3657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3154680"/>
            <a:ext cx="365760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LLMの揺らぎを「変化」と誤検知 or 本物の変化を見逃し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3154680"/>
            <a:ext cx="5120640" cy="96012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3154680"/>
            <a:ext cx="512064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統計処理を手動で行えず、月1観測では揺らぎ除去できない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114800"/>
            <a:ext cx="731520" cy="9601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4114800"/>
            <a:ext cx="73152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Yu Gothic"/>
              </a:rPr>
              <a:t>4位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" y="4114800"/>
            <a:ext cx="2377440" cy="960120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114800"/>
            <a:ext cx="237744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Yu Gothic"/>
              </a:rPr>
              <a:t>経営/クライアント説得力の欠如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4114800"/>
            <a:ext cx="3657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4114800"/>
            <a:ext cx="365760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予算削減・解約リスク、追加投資の承認得られず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80" y="4114800"/>
            <a:ext cx="5120640" cy="96012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4114800"/>
            <a:ext cx="512064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データ粒度薄／業界ベンチマーク非搭載／ROIアトリ不能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074920"/>
            <a:ext cx="731520" cy="96012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5074920"/>
            <a:ext cx="73152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Yu Gothic"/>
              </a:rPr>
              <a:t>5位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5840" y="5074920"/>
            <a:ext cx="2377440" cy="960120"/>
          </a:xfrm>
          <a:prstGeom prst="rect">
            <a:avLst/>
          </a:prstGeom>
          <a:solidFill>
            <a:srgbClr val="FFF0F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5074920"/>
            <a:ext cx="237744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Yu Gothic"/>
              </a:rPr>
              <a:t>スケール壁(30→100→1,000本)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0" y="5074920"/>
            <a:ext cx="36576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0" y="5074920"/>
            <a:ext cx="365760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戦略の幅が狭まり、競合に劣後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0880" y="5074920"/>
            <a:ext cx="5120640" cy="960120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0" y="5074920"/>
            <a:ext cx="512064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物理的人手の限界、多言語・多リージョン・サブブランド対応不能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上流設計への含意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887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上流設計への含意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887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あなたのプロダクトへの示唆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45720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777240"/>
            <a:ext cx="310896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777240"/>
            <a:ext cx="3108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示唆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777240"/>
            <a:ext cx="8229600" cy="457200"/>
          </a:xfrm>
          <a:prstGeom prst="rect">
            <a:avLst/>
          </a:prstGeom>
          <a:solidFill>
            <a:srgbClr val="1F3A5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77724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457200" cy="1051560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234440"/>
            <a:ext cx="45720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Yu Gothic"/>
              </a:rPr>
              <a:t>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234440"/>
            <a:ext cx="3108960" cy="105156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234440"/>
            <a:ext cx="310896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価値提案の中核は「時間圧縮」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123444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1234440"/>
            <a:ext cx="822960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「年間1,500時間の手作業を100時間に」のような時間単位ROIが最も訴求力ある(特に経営承認)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86000"/>
            <a:ext cx="457200" cy="1051560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286000"/>
            <a:ext cx="45720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Yu Gothic"/>
              </a:rPr>
              <a:t>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286000"/>
            <a:ext cx="3108960" cy="105156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286000"/>
            <a:ext cx="310896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ハイブリッド戦略の余地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228600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2286000"/>
            <a:ext cx="822960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中小／個人事業主／SMB予算向けに「Sheetsを資産にしたまま自動化レイヤを乗せる」プロダクトは未開拓ニッチ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337560"/>
            <a:ext cx="457200" cy="1051560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337560"/>
            <a:ext cx="45720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Yu Gothic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337560"/>
            <a:ext cx="3108960" cy="105156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337560"/>
            <a:ext cx="310896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経営説明書類の自動化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333756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3337560"/>
            <a:ext cx="822960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ペルソナA⑦・B⑧のレポート工数は、ツールを導入しても残る最大ペイン。レポート自動化AIは継続価値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389120"/>
            <a:ext cx="457200" cy="1051560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389120"/>
            <a:ext cx="45720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Yu Gothic"/>
              </a:rPr>
              <a:t>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389120"/>
            <a:ext cx="3108960" cy="105156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389120"/>
            <a:ext cx="310896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SOPの民主化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438912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0" y="4389120"/>
            <a:ext cx="822960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ペルソナB①〜②の「業界SOPが存在しない」問題は、ツールにSOPテンプレを内蔵すれば差別化軸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440680"/>
            <a:ext cx="457200" cy="1051560"/>
          </a:xfrm>
          <a:prstGeom prst="rect">
            <a:avLst/>
          </a:prstGeom>
          <a:solidFill>
            <a:srgbClr val="FFF8E0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5440680"/>
            <a:ext cx="45720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Yu Gothic"/>
              </a:rPr>
              <a:t>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440680"/>
            <a:ext cx="3108960" cy="1051560"/>
          </a:xfrm>
          <a:prstGeom prst="rect">
            <a:avLst/>
          </a:prstGeom>
          <a:solidFill>
            <a:srgbClr val="E8EEF7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440680"/>
            <a:ext cx="310896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Yu Gothic"/>
              </a:rPr>
              <a:t>段階的導入(Crawl→Walk→Run)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544068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0" y="5440680"/>
            <a:ext cx="822960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Yu Gothic"/>
              </a:rPr>
              <a:t>30本/月1から始めて、300本/日次に拡張するパスを設計すれば、決裁ハードルを下げられる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