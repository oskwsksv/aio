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  <a:rFonts eastAsia="Yu Gothic"/>
              </a:rPr>
              <a:t>AIOutmation を5つの図で理解する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E8EEF7"/>
                </a:solidFill>
                <a:latin typeface="Yu Gothic"/>
                <a:rFonts eastAsia="Yu Gothic"/>
              </a:rPr>
              <a:t>ユーザー視点・開発者視点・システム視点の図解集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7432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3727" y="288036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2E5C8A"/>
                </a:solidFill>
                <a:latin typeface="Yu Gothic"/>
                <a:rFonts eastAsia="Yu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27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  <a:rFonts eastAsia="Yu Gothic"/>
              </a:rPr>
              <a:t>ユースケース図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ユーザー視点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誰が何をできるか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007" y="27432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4007" y="288036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C96E29"/>
                </a:solidFill>
                <a:latin typeface="Yu Gothic"/>
                <a:rFonts eastAsia="Yu Gothi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4007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  <a:rFonts eastAsia="Yu Gothic"/>
              </a:rPr>
              <a:t>ユーザーストーリーマップ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400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ユーザー視点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体験の時間軸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4287" y="27432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4287" y="288036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6B46A0"/>
                </a:solidFill>
                <a:latin typeface="Yu Gothic"/>
                <a:rFonts eastAsia="Yu Gothi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4287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  <a:rFonts eastAsia="Yu Gothic"/>
              </a:rPr>
              <a:t>MVPシステム構成図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28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開発者視点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コンポーネント構成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4567" y="27432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4567" y="288036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2E7A4E"/>
                </a:solidFill>
                <a:latin typeface="Yu Gothic"/>
                <a:rFonts eastAsia="Yu Gothic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  <a:rFonts eastAsia="Yu Gothic"/>
              </a:rPr>
              <a:t>I/Oフロー図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56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システム視点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入力→処理→出力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847" y="2743200"/>
            <a:ext cx="21031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4847" y="2880360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B03A2E"/>
                </a:solidFill>
                <a:latin typeface="Yu Gothic"/>
                <a:rFonts eastAsia="Yu Gothic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847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  <a:rFonts eastAsia="Yu Gothic"/>
              </a:rPr>
              <a:t>AIOピラミッド×機能対応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84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概念視点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製品の位置づけ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E8EEF7"/>
                </a:solidFill>
                <a:latin typeface="Yu Gothic"/>
                <a:rFonts eastAsia="Yu Gothic"/>
              </a:rPr>
              <a:t>出典: AIOutmation_LeanCanvas.docx / AIOutmation_MVP_Spec.docx / AIOutmation_Story.docx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  <a:rFonts eastAsia="Yu Gothic"/>
              </a:rPr>
              <a:t>①ユースケース図 (Use Case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  <a:rFonts eastAsia="Yu Gothic"/>
              </a:rPr>
              <a:t>ユーザー視点: 誰が何をできるシステムか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576072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51560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  <a:rFonts eastAsia="Yu Gothic"/>
              </a:rPr>
              <a:t>AIOutmation System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2011680"/>
            <a:ext cx="1371600" cy="64008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プロンプト管理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2011680"/>
            <a:ext cx="146304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1463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プロンプト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自動生成(AI)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2011680"/>
            <a:ext cx="137160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1371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引用率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自動測定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3017520"/>
            <a:ext cx="164592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16459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ダッシュボード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閲覧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3017520"/>
            <a:ext cx="155448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01752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アラート設定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/受信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017520"/>
            <a:ext cx="137160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1371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月次レポート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4114800"/>
            <a:ext cx="155448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AIコメンタリー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生成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4114800"/>
            <a:ext cx="155448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411480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ホワイトラベル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設定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0" y="4114800"/>
            <a:ext cx="1188720" cy="64008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4114800"/>
            <a:ext cx="1188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競合分析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5212080"/>
            <a:ext cx="1554480" cy="777240"/>
          </a:xfrm>
          <a:prstGeom prst="ellipse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21208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マルチテナント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管理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0" y="5212080"/>
            <a:ext cx="1554480" cy="777240"/>
          </a:xfrm>
          <a:prstGeom prst="ellipse">
            <a:avLst/>
          </a:prstGeom>
          <a:solidFill>
            <a:srgbClr val="ECE0F4"/>
          </a:solidFill>
          <a:ln w="1905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5212080"/>
            <a:ext cx="1554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CMS改修PR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起票(V2)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0" y="5212080"/>
            <a:ext cx="1280160" cy="777240"/>
          </a:xfrm>
          <a:prstGeom prst="ellipse">
            <a:avLst/>
          </a:prstGeom>
          <a:solidFill>
            <a:srgbClr val="ECE0F4"/>
          </a:solidFill>
          <a:ln w="1905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52120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LLM別最適化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A5F"/>
                </a:solidFill>
                <a:latin typeface="Yu Gothic"/>
                <a:rFonts eastAsia="Yu Gothic"/>
              </a:rPr>
              <a:t>(V2)</a:t>
            </a:r>
          </a:p>
        </p:txBody>
      </p:sp>
      <p:sp>
        <p:nvSpPr>
          <p:cNvPr id="31" name="Oval 30"/>
          <p:cNvSpPr/>
          <p:nvPr/>
        </p:nvSpPr>
        <p:spPr>
          <a:xfrm>
            <a:off x="580644" y="1554480"/>
            <a:ext cx="246888" cy="2468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04088.0" y="1801368"/>
            <a:ext cx="0.0" cy="452628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1965960"/>
            <a:ext cx="493776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57200" y="2253996"/>
            <a:ext cx="246888.0" cy="329184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4088.0" y="2253996"/>
            <a:ext cx="246888.0" cy="329184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" y="2624328"/>
            <a:ext cx="122529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  <a:latin typeface="Yu Gothic"/>
                <a:rFonts eastAsia="Yu Gothic"/>
              </a:rPr>
              <a:t>上場企業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Yu Gothic"/>
                <a:rFonts eastAsia="Yu Gothic"/>
              </a:rPr>
              <a:t>マーケPM</a:t>
            </a:r>
          </a:p>
        </p:txBody>
      </p:sp>
      <p:sp>
        <p:nvSpPr>
          <p:cNvPr id="37" name="Oval 36"/>
          <p:cNvSpPr/>
          <p:nvPr/>
        </p:nvSpPr>
        <p:spPr>
          <a:xfrm>
            <a:off x="580644" y="3657600"/>
            <a:ext cx="246888" cy="2468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04088.0" y="3904488"/>
            <a:ext cx="0.0" cy="452628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" y="4069080"/>
            <a:ext cx="493776" cy="0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57200" y="4357116"/>
            <a:ext cx="246888.0" cy="329184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4088.0" y="4357116"/>
            <a:ext cx="246888.0" cy="329184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" y="4727448"/>
            <a:ext cx="122529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C96E29"/>
                </a:solidFill>
                <a:latin typeface="Yu Gothic"/>
                <a:rFonts eastAsia="Yu Gothic"/>
              </a:rPr>
              <a:t>代理店PM</a:t>
            </a:r>
          </a:p>
        </p:txBody>
      </p:sp>
      <p:sp>
        <p:nvSpPr>
          <p:cNvPr id="43" name="Oval 42"/>
          <p:cNvSpPr/>
          <p:nvPr/>
        </p:nvSpPr>
        <p:spPr>
          <a:xfrm>
            <a:off x="10168128" y="155448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277856.0" y="1773936"/>
            <a:ext cx="0.0" cy="402336"/>
          </a:xfrm>
          <a:prstGeom prst="line">
            <a:avLst/>
          </a:prstGeom>
          <a:ln w="25400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58400" y="1920240"/>
            <a:ext cx="438912" cy="0"/>
          </a:xfrm>
          <a:prstGeom prst="line">
            <a:avLst/>
          </a:prstGeom>
          <a:ln w="25400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058400" y="2176272"/>
            <a:ext cx="219456.0" cy="292608"/>
          </a:xfrm>
          <a:prstGeom prst="line">
            <a:avLst/>
          </a:prstGeom>
          <a:ln w="25400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77856.0" y="2176272"/>
            <a:ext cx="219456.0" cy="292608"/>
          </a:xfrm>
          <a:prstGeom prst="line">
            <a:avLst/>
          </a:prstGeom>
          <a:ln w="25400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92640" y="2505456"/>
            <a:ext cx="11704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6B46A0"/>
                </a:solidFill>
                <a:latin typeface="Yu Gothic"/>
                <a:rFonts eastAsia="Yu Gothic"/>
              </a:rPr>
              <a:t>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46A0"/>
                </a:solidFill>
                <a:latin typeface="Yu Gothic"/>
                <a:rFonts eastAsia="Yu Gothic"/>
              </a:rPr>
              <a:t>APIs</a:t>
            </a:r>
          </a:p>
        </p:txBody>
      </p:sp>
      <p:sp>
        <p:nvSpPr>
          <p:cNvPr id="49" name="Oval 48"/>
          <p:cNvSpPr/>
          <p:nvPr/>
        </p:nvSpPr>
        <p:spPr>
          <a:xfrm>
            <a:off x="10168128" y="320040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277856.0" y="3419856"/>
            <a:ext cx="0.0" cy="402336"/>
          </a:xfrm>
          <a:prstGeom prst="line">
            <a:avLst/>
          </a:prstGeom>
          <a:ln w="25400">
            <a:solidFill>
              <a:srgbClr val="2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58400" y="3566160"/>
            <a:ext cx="438912" cy="0"/>
          </a:xfrm>
          <a:prstGeom prst="line">
            <a:avLst/>
          </a:prstGeom>
          <a:ln w="25400">
            <a:solidFill>
              <a:srgbClr val="2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0058400" y="3822192"/>
            <a:ext cx="219456.0" cy="292608"/>
          </a:xfrm>
          <a:prstGeom prst="line">
            <a:avLst/>
          </a:prstGeom>
          <a:ln w="25400">
            <a:solidFill>
              <a:srgbClr val="2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77856.0" y="3822192"/>
            <a:ext cx="219456.0" cy="292608"/>
          </a:xfrm>
          <a:prstGeom prst="line">
            <a:avLst/>
          </a:prstGeom>
          <a:ln w="25400">
            <a:solidFill>
              <a:srgbClr val="2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692640" y="4151376"/>
            <a:ext cx="11704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7A4E"/>
                </a:solidFill>
                <a:latin typeface="Yu Gothic"/>
                <a:rFonts eastAsia="Yu Gothic"/>
              </a:rPr>
              <a:t>CRM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A4E"/>
                </a:solidFill>
                <a:latin typeface="Yu Gothic"/>
                <a:rFonts eastAsia="Yu Gothic"/>
              </a:rPr>
              <a:t>(Salesforce)</a:t>
            </a:r>
          </a:p>
        </p:txBody>
      </p:sp>
      <p:sp>
        <p:nvSpPr>
          <p:cNvPr id="55" name="Oval 54"/>
          <p:cNvSpPr/>
          <p:nvPr/>
        </p:nvSpPr>
        <p:spPr>
          <a:xfrm>
            <a:off x="10168128" y="484632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277856.0" y="5065776"/>
            <a:ext cx="0.0" cy="402336"/>
          </a:xfrm>
          <a:prstGeom prst="line">
            <a:avLst/>
          </a:prstGeom>
          <a:ln w="254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058400" y="5212080"/>
            <a:ext cx="438912" cy="0"/>
          </a:xfrm>
          <a:prstGeom prst="line">
            <a:avLst/>
          </a:prstGeom>
          <a:ln w="254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058400" y="5468112"/>
            <a:ext cx="219456.0" cy="292608"/>
          </a:xfrm>
          <a:prstGeom prst="line">
            <a:avLst/>
          </a:prstGeom>
          <a:ln w="254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77856.0" y="5468112"/>
            <a:ext cx="219456.0" cy="292608"/>
          </a:xfrm>
          <a:prstGeom prst="line">
            <a:avLst/>
          </a:prstGeom>
          <a:ln w="25400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692640" y="5797296"/>
            <a:ext cx="11704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  <a:rFonts eastAsia="Yu Gothic"/>
              </a:rPr>
              <a:t>CMS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03A2E"/>
                </a:solidFill>
                <a:latin typeface="Yu Gothic"/>
                <a:rFonts eastAsia="Yu Gothic"/>
              </a:rPr>
              <a:t>(各種)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05840" y="1828800"/>
            <a:ext cx="3154680.0" cy="502920.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5840" y="1828800"/>
            <a:ext cx="3291840.0" cy="1577340.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840" y="1828800"/>
            <a:ext cx="5257800.0" cy="1577340.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05840" y="1828800"/>
            <a:ext cx="3429000.0" cy="2674620.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05840" y="3931920"/>
            <a:ext cx="5257800.0" cy="571500.0"/>
          </a:xfrm>
          <a:prstGeom prst="line">
            <a:avLst/>
          </a:prstGeom>
          <a:ln w="9525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5840" y="3406140.0"/>
            <a:ext cx="6995160.0" cy="525780.0"/>
          </a:xfrm>
          <a:prstGeom prst="line">
            <a:avLst/>
          </a:prstGeom>
          <a:ln w="9525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05840" y="3931920"/>
            <a:ext cx="3429000.0" cy="1668780.0"/>
          </a:xfrm>
          <a:prstGeom prst="line">
            <a:avLst/>
          </a:prstGeom>
          <a:ln w="9525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05840" y="3931920"/>
            <a:ext cx="3429000.0" cy="571500.0"/>
          </a:xfrm>
          <a:prstGeom prst="line">
            <a:avLst/>
          </a:prstGeom>
          <a:ln w="9525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818120.0" y="1828800"/>
            <a:ext cx="2240280.0" cy="571500.0"/>
          </a:xfrm>
          <a:prstGeom prst="line">
            <a:avLst/>
          </a:prstGeom>
          <a:ln w="9525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5943600.0" y="1828800"/>
            <a:ext cx="4114800.0" cy="571500.0"/>
          </a:xfrm>
          <a:prstGeom prst="line">
            <a:avLst/>
          </a:prstGeom>
          <a:ln w="9525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434840.0" y="1828800"/>
            <a:ext cx="5623560.0" cy="2674620.0"/>
          </a:xfrm>
          <a:prstGeom prst="line">
            <a:avLst/>
          </a:prstGeom>
          <a:ln w="9525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8138160.0" y="1828800"/>
            <a:ext cx="1920240.0" cy="3771900.0"/>
          </a:xfrm>
          <a:prstGeom prst="line">
            <a:avLst/>
          </a:prstGeom>
          <a:ln w="9525">
            <a:solidFill>
              <a:srgbClr val="6B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5943600.0" y="2400300.0"/>
            <a:ext cx="4114800.0" cy="1074420.0"/>
          </a:xfrm>
          <a:prstGeom prst="line">
            <a:avLst/>
          </a:prstGeom>
          <a:ln w="9525">
            <a:solidFill>
              <a:srgbClr val="2E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6263640.0" y="5120640"/>
            <a:ext cx="3794760.0" cy="480060.0"/>
          </a:xfrm>
          <a:prstGeom prst="line">
            <a:avLst/>
          </a:prstGeom>
          <a:ln w="9525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" y="5943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凡例:</a:t>
            </a:r>
          </a:p>
        </p:txBody>
      </p:sp>
      <p:sp>
        <p:nvSpPr>
          <p:cNvPr id="76" name="Oval 75"/>
          <p:cNvSpPr/>
          <p:nvPr/>
        </p:nvSpPr>
        <p:spPr>
          <a:xfrm>
            <a:off x="1828800" y="5989320"/>
            <a:ext cx="274320" cy="182880"/>
          </a:xfrm>
          <a:prstGeom prst="ellipse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03120" y="594360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MVP機能</a:t>
            </a:r>
          </a:p>
        </p:txBody>
      </p:sp>
      <p:sp>
        <p:nvSpPr>
          <p:cNvPr id="78" name="Oval 77"/>
          <p:cNvSpPr/>
          <p:nvPr/>
        </p:nvSpPr>
        <p:spPr>
          <a:xfrm>
            <a:off x="3474720" y="5989320"/>
            <a:ext cx="274320" cy="182880"/>
          </a:xfrm>
          <a:prstGeom prst="ellipse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39" y="594360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V2拡張機能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Yu Gothic"/>
                <a:rFonts eastAsia="Yu Gothic"/>
              </a:rPr>
              <a:t>AIOutmation 解説図シリーズ (1/5)  ─  作成: 2026年5月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  <a:rFonts eastAsia="Yu Gothic"/>
              </a:rPr>
              <a:t>②ユーザーストーリーマップ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  <a:rFonts eastAsia="Yu Gothic"/>
              </a:rPr>
              <a:t>ユーザー視点: 体験の時間軸と機能の対応関係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1. オンボード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2469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2469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2. 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2018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2018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3. 日常運用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1567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1567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4. 分析・改善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1116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1116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5. 経営報告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0665" y="868680"/>
            <a:ext cx="1788109" cy="50292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0665" y="868680"/>
            <a:ext cx="178810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rFonts eastAsia="Yu Gothic"/>
              </a:rPr>
              <a:t>6. 拡張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・アカウント作成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・チーム招待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・ブランド設定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2469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2469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・競合登録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・プロンプト生成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・モデル選定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2018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2018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・引用率モニター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・アラート対応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・競合急変キャッチ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1567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・トレンド分析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・改修案レビュー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・ライター/開発依頼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1116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1116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・月次レポート確認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・経営会議提出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・ROI証明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00665" y="1463040"/>
            <a:ext cx="1788109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0665" y="1463040"/>
            <a:ext cx="178810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・新ブランド追加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・多言語展開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・代理店招待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" y="2286000"/>
            <a:ext cx="365760" cy="128016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" y="2286000"/>
            <a:ext cx="365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rFonts eastAsia="Yu Gothic"/>
              </a:rPr>
              <a:t>MVP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F1: マルチテナント基盤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F1: SSO認証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82469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2469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F2: プロンプト自動生成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F2: タグ・優先度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2018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2018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F3: 引用率測定エンジン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F4: アラート(Slack/メール)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1567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1567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F4: ダッシュボード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F4: ヒートマップ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1116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1116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F5: ホワイトラベルレポート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F6: AIコメンタリー(3行)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00665" y="2286000"/>
            <a:ext cx="1788109" cy="12801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00665" y="22860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F1: Workspace複製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F5: 代理店向け招待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" y="3657600"/>
            <a:ext cx="365760" cy="1280160"/>
          </a:xfrm>
          <a:prstGeom prst="rect">
            <a:avLst/>
          </a:prstGeom>
          <a:solidFill>
            <a:srgbClr val="6B4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" y="3657600"/>
            <a:ext cx="365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rFonts eastAsia="Yu Gothic"/>
              </a:rPr>
              <a:t>V2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F12: Salesforce連携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F12: HubSpot連携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2469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2469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F12: Gong連携(プロンプト抽出)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62018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2018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F8: JSON-LD自動生成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F9: CMS PR起票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1567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1567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F7: SEO×AIO監査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統計的ノイズ除去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21116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21116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F10: ROI物語AI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業界ベンチマーク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00665" y="3657600"/>
            <a:ext cx="1788109" cy="1280160"/>
          </a:xfrm>
          <a:prstGeom prst="rect">
            <a:avLst/>
          </a:prstGeom>
          <a:solidFill>
            <a:srgbClr val="ECE0F4"/>
          </a:solidFill>
          <a:ln w="127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00665" y="36576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Felo/Genspark対応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多言語完全対応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" y="5029200"/>
            <a:ext cx="365760" cy="128016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" y="5029200"/>
            <a:ext cx="365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rFonts eastAsia="Yu Gothic"/>
              </a:rPr>
              <a:t>V3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F17: SOC2 Type II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82469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82469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F13: 文章構成最適化AI(リライト)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2018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2018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F14: Signal/Noise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統計的信頼区間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1567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41567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F11: 業界ベンチマークDB公開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21116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21116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AIによる経営Q&amp;A対応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取締役会用デック自動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00665" y="5029200"/>
            <a:ext cx="1788109" cy="1280160"/>
          </a:xfrm>
          <a:prstGeom prst="rect">
            <a:avLst/>
          </a:prstGeom>
          <a:solidFill>
            <a:srgbClr val="E0F4E0"/>
          </a:solidFill>
          <a:ln w="127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00665" y="5029200"/>
            <a:ext cx="1788109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API公開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プラグイン市場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横軸: ユーザー体験の時間軸(オンボード→拡張)  /  縦軸: 機能のリリース時期(MVP→V3)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Yu Gothic"/>
                <a:rFonts eastAsia="Yu Gothic"/>
              </a:rPr>
              <a:t>AIOutmation 解説図シリーズ (2/5)  ─  作成: 2026年5月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6B4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  <a:rFonts eastAsia="Yu Gothic"/>
              </a:rPr>
              <a:t>③MVPシステム構成図 (Architecture)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  <a:rFonts eastAsia="Yu Gothic"/>
              </a:rPr>
              <a:t>開発者視点: コンポーネントと技術スタック</a:t>
            </a:r>
          </a:p>
        </p:txBody>
      </p:sp>
      <p:sp>
        <p:nvSpPr>
          <p:cNvPr id="5" name="Oval 4"/>
          <p:cNvSpPr/>
          <p:nvPr/>
        </p:nvSpPr>
        <p:spPr>
          <a:xfrm>
            <a:off x="2361438" y="822960"/>
            <a:ext cx="150876" cy="1508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436876.0" y="973836"/>
            <a:ext cx="0.0" cy="276606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1074420"/>
            <a:ext cx="301752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286000" y="1250442"/>
            <a:ext cx="150876.0" cy="201168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36876.0" y="1250442"/>
            <a:ext cx="150876.0" cy="201168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76756"/>
            <a:ext cx="103327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  <a:latin typeface="Yu Gothic"/>
                <a:rFonts eastAsia="Yu Gothic"/>
              </a:rPr>
              <a:t>上場企業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Yu Gothic"/>
                <a:rFonts eastAsia="Yu Gothic"/>
              </a:rPr>
              <a:t>マーケPM</a:t>
            </a:r>
          </a:p>
        </p:txBody>
      </p:sp>
      <p:sp>
        <p:nvSpPr>
          <p:cNvPr id="11" name="Oval 10"/>
          <p:cNvSpPr/>
          <p:nvPr/>
        </p:nvSpPr>
        <p:spPr>
          <a:xfrm>
            <a:off x="7847838" y="822960"/>
            <a:ext cx="150876" cy="1508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923276.0" y="973836"/>
            <a:ext cx="0.0" cy="276606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1074420"/>
            <a:ext cx="301752" cy="0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772400" y="1250442"/>
            <a:ext cx="150876.0" cy="201168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3276.0" y="1250442"/>
            <a:ext cx="150876.0" cy="201168"/>
          </a:xfrm>
          <a:prstGeom prst="line">
            <a:avLst/>
          </a:prstGeom>
          <a:ln w="25400">
            <a:solidFill>
              <a:srgbClr val="C96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1476756"/>
            <a:ext cx="103327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C96E29"/>
                </a:solidFill>
                <a:latin typeface="Yu Gothic"/>
                <a:rFonts eastAsia="Yu Gothic"/>
              </a:rPr>
              <a:t>代理店PM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828800"/>
            <a:ext cx="8503920" cy="6400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1828800"/>
            <a:ext cx="85039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Yu Gothic"/>
                <a:rFonts eastAsia="Yu Gothic"/>
              </a:rPr>
              <a:t>Frontend  ─  Next.js 14 (App Router) + TypeScript + Tailwind + shadcn/ui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1828800"/>
            <a:ext cx="1097280" cy="0"/>
          </a:xfrm>
          <a:prstGeom prst="line">
            <a:avLst/>
          </a:prstGeom>
          <a:ln w="19050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1828800"/>
            <a:ext cx="182880" cy="0"/>
          </a:xfrm>
          <a:prstGeom prst="line">
            <a:avLst/>
          </a:prstGeom>
          <a:ln w="19050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2743200"/>
            <a:ext cx="6675120" cy="640080"/>
          </a:xfrm>
          <a:prstGeom prst="roundRect">
            <a:avLst/>
          </a:prstGeom>
          <a:solidFill>
            <a:srgbClr val="ECE0F4"/>
          </a:solidFill>
          <a:ln w="1905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743200"/>
            <a:ext cx="66751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API Gateway  ─  NestJS (Node.js / TypeScript) + REST/tRPC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743200"/>
            <a:ext cx="1645920" cy="640080"/>
          </a:xfrm>
          <a:prstGeom prst="roundRect">
            <a:avLst/>
          </a:prstGeom>
          <a:solidFill>
            <a:srgbClr val="E0F4E0"/>
          </a:solidFill>
          <a:ln w="1905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16459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Auth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(Clerk)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2468880"/>
            <a:ext cx="0" cy="274320"/>
          </a:xfrm>
          <a:prstGeom prst="line">
            <a:avLst/>
          </a:prstGeom>
          <a:ln w="19050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3657600"/>
            <a:ext cx="1691640" cy="9601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57600"/>
            <a:ext cx="16916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Prompt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5196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2E5C8A"/>
                </a:solidFill>
                <a:latin typeface="Yu Gothic"/>
                <a:rFonts eastAsia="Yu Gothic"/>
              </a:rPr>
              <a:t>F2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657600"/>
            <a:ext cx="1691640" cy="9601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657600"/>
            <a:ext cx="16916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Citation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25196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B03A2E"/>
                </a:solidFill>
                <a:latin typeface="Yu Gothic"/>
                <a:rFonts eastAsia="Yu Gothic"/>
              </a:rPr>
              <a:t>F3 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3657600"/>
            <a:ext cx="1691640" cy="9601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3657600"/>
            <a:ext cx="16916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25196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2E5C8A"/>
                </a:solidFill>
                <a:latin typeface="Yu Gothic"/>
                <a:rFonts eastAsia="Yu Gothic"/>
              </a:rPr>
              <a:t>F4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3657600"/>
            <a:ext cx="1691640" cy="9601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657600"/>
            <a:ext cx="16916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Report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Generator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25196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2E5C8A"/>
                </a:solidFill>
                <a:latin typeface="Yu Gothic"/>
                <a:rFonts eastAsia="Yu Gothic"/>
              </a:rPr>
              <a:t>F5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657600"/>
            <a:ext cx="1691640" cy="9601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657600"/>
            <a:ext cx="16916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AI Commentary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25196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2E5C8A"/>
                </a:solidFill>
                <a:latin typeface="Yu Gothic"/>
                <a:rFonts eastAsia="Yu Gothic"/>
              </a:rPr>
              <a:t>F6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00600"/>
            <a:ext cx="9326880" cy="640080"/>
          </a:xfrm>
          <a:prstGeom prst="roundRect">
            <a:avLst/>
          </a:prstGeom>
          <a:solidFill>
            <a:srgbClr val="FFE0E0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93268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B03A2E"/>
                </a:solidFill>
                <a:latin typeface="Yu Gothic"/>
                <a:rFonts eastAsia="Yu Gothic"/>
              </a:rPr>
              <a:t>LLM Worker Pool  ─  BullMQ + Redis Queue / Playwright(Containerized) + LLM API Clients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669280"/>
            <a:ext cx="4480560" cy="731520"/>
          </a:xfrm>
          <a:prstGeom prst="roundRect">
            <a:avLst/>
          </a:prstGeom>
          <a:solidFill>
            <a:srgbClr val="FFF4C0"/>
          </a:solidFill>
          <a:ln w="19050">
            <a:solidFill>
              <a:srgbClr val="FF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669280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PostgreSQL 16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(Prisma ORM、Row-Level Security、月次パーティション)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0" y="5669280"/>
            <a:ext cx="2286000" cy="731520"/>
          </a:xfrm>
          <a:prstGeom prst="roundRect">
            <a:avLst/>
          </a:prstGeom>
          <a:solidFill>
            <a:srgbClr val="FFF4C0"/>
          </a:solidFill>
          <a:ln w="19050">
            <a:solidFill>
              <a:srgbClr val="FF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5669280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Redis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(Cache + Queue)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5669280"/>
            <a:ext cx="2194560" cy="731520"/>
          </a:xfrm>
          <a:prstGeom prst="roundRect">
            <a:avLst/>
          </a:prstGeom>
          <a:solidFill>
            <a:srgbClr val="FFF4C0"/>
          </a:solidFill>
          <a:ln w="19050">
            <a:solidFill>
              <a:srgbClr val="FFC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5669280"/>
            <a:ext cx="21945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4444"/>
                </a:solidFill>
                <a:latin typeface="Yu Gothic"/>
                <a:rFonts eastAsia="Yu Gothic"/>
              </a:rPr>
              <a:t>(レポート/ログ/アーカイブ)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24160" y="1828800"/>
            <a:ext cx="1554480" cy="36576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1828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4444"/>
                </a:solidFill>
                <a:latin typeface="Yu Gothic"/>
                <a:rFonts eastAsia="Yu Gothic"/>
              </a:rPr>
              <a:t>External Services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15600" y="21945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0" y="21945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Perplexity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24231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(UIスクレイピング)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26974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26974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ChatGPT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29260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(OpenAI)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0" y="320040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0" y="320040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Gemini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342900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(UI/API)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37033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0" y="370332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AI Overviews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393192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(SerpAPI)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42062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15600" y="420624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Slack/Email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443484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(通知)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0" y="47091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0" y="47091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444444"/>
                </a:solidFill>
                <a:latin typeface="Yu Gothic"/>
                <a:rFonts eastAsia="Yu Gothic"/>
              </a:rPr>
              <a:t>Datadog/Sentry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49377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808080"/>
                </a:solidFill>
                <a:latin typeface="Yu Gothic"/>
                <a:rFonts eastAsia="Yu Gothic"/>
              </a:rPr>
              <a:t>(監視)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8503920" y="3063240"/>
            <a:ext cx="182880" cy="0"/>
          </a:xfrm>
          <a:prstGeom prst="line">
            <a:avLst/>
          </a:prstGeom>
          <a:ln w="12700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03020.0" y="4617720"/>
            <a:ext cx="0.0" cy="18288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086100.0" y="4617720"/>
            <a:ext cx="0.0" cy="18288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869180.0" y="4617720"/>
            <a:ext cx="0.0" cy="18288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52260.0" y="4617720"/>
            <a:ext cx="0.0" cy="18288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435340.0" y="4617720"/>
            <a:ext cx="0.0" cy="18288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784080" y="5120640"/>
            <a:ext cx="640080" cy="0"/>
          </a:xfrm>
          <a:prstGeom prst="line">
            <a:avLst/>
          </a:prstGeom>
          <a:ln w="19050">
            <a:solidFill>
              <a:srgbClr val="B03A2E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651760" y="4617720"/>
            <a:ext cx="0" cy="105156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400800" y="5440680"/>
            <a:ext cx="0" cy="228600"/>
          </a:xfrm>
          <a:prstGeom prst="line">
            <a:avLst/>
          </a:prstGeom>
          <a:ln w="9525">
            <a:solidFill>
              <a:srgbClr val="44444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B03A2E"/>
                </a:solidFill>
                <a:latin typeface="Yu Gothic"/>
                <a:rFonts eastAsia="Yu Gothic"/>
              </a:rPr>
              <a:t>★ Citation Engine (F3) はMVPの中核。LLM Worker Poolで毎日4LLM×全プロンプトを自動実行し、引用率を算出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Yu Gothic"/>
                <a:rFonts eastAsia="Yu Gothic"/>
              </a:rPr>
              <a:t>AIOutmation 解説図シリーズ (3/5)  ─  作成: 2026年5月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  <a:rFonts eastAsia="Yu Gothic"/>
              </a:rPr>
              <a:t>④インプット → 処理 → アウトプット図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  <a:rFonts eastAsia="Yu Gothic"/>
              </a:rPr>
              <a:t>システム視点: 何を入れたら何が出るか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914400"/>
            <a:ext cx="3474720" cy="484632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07" y="91440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Yu Gothic"/>
                <a:rFonts eastAsia="Yu Gothic"/>
              </a:rPr>
              <a:t>📥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07" y="137160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システムが受け取るもの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1828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🏢 自社情報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139696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・自社URL / 主要ドメイン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・サブブランド・買収ブランド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・対象市場(言語/地域)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706624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🎯 競合・業界情報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017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・競合URL(最大10社)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・業界キーワード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3584448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❓ プロンプト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3895344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・Money Prompt 30-1,000本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・ファネル/ペルソナタグ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(AI自動生成 or 手動)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446227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🔗 連携データ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" y="4773168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・CRM(Salesforce/HubSpot)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・営業会話(Gong)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・GA4 / Search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" y="5340096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Yu Gothic"/>
                <a:rFonts eastAsia="Yu Gothic"/>
              </a:rPr>
              <a:t>⚙️ 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67" y="5650992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・閾値(60%/70%等)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・通知先(Slack/Email)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・レポート頻度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914400"/>
            <a:ext cx="3474720" cy="4846320"/>
          </a:xfrm>
          <a:prstGeom prst="roundRect">
            <a:avLst/>
          </a:prstGeom>
          <a:solidFill>
            <a:srgbClr val="ECE0F4"/>
          </a:solidFill>
          <a:ln w="254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8487" y="91440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6B46A0"/>
                </a:solidFill>
                <a:latin typeface="Yu Gothic"/>
                <a:rFonts eastAsia="Yu Gothic"/>
              </a:rPr>
              <a:t>⚙️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487" y="137160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AIOutmation 内部の処理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1828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🤖 プロンプト自動生成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2139696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Money Promptをファネル別に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AIが300本自動提案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2615184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🔄 LLM並列実行 (毎日)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292608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Perplexity/ChatGPT/Gemini/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Google AI Overviews を24h自動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647" y="3401568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🔍 引用判定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647" y="3712464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出典URL抽出+ドメイン照合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→ True Positive判定95%精度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418795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📊 Citation Rate算出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4498848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(引用回数÷チェック数)×100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+ノイズ除去(複数回×移動平均)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4974336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🔔 異常検知・アラート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647" y="5285232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閾値超え/急変/競合急伸を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自動検知 → Slack/メール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647" y="576072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📝 AIコメンタリー生成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5647" y="6071616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前月比/カテゴリ/競合差分を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Claude/GPTで3行サマリ化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8967" y="914400"/>
            <a:ext cx="3474720" cy="4846320"/>
          </a:xfrm>
          <a:prstGeom prst="roundRect">
            <a:avLst/>
          </a:prstGeom>
          <a:solidFill>
            <a:srgbClr val="E0F4E0"/>
          </a:solidFill>
          <a:ln w="254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8967" y="91440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E7A4E"/>
                </a:solidFill>
                <a:latin typeface="Yu Gothic"/>
                <a:rFonts eastAsia="Yu Gothic"/>
              </a:rPr>
              <a:t>📤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8967" y="137160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ユーザーが受け取るもの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6127" y="1828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📈 ダッシュボード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6127" y="2139696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・引用率トレンドグラフ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・FAQ管理表/記録表/集計表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・ヒートマップ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6127" y="2706624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🚨 リアルタイムアラート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6127" y="3017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・Slack通知(閾値超え)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・競合急伸通知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・センチメント悪化通知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6127" y="3584448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📄 月次レポート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6127" y="3895344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・ホワイトラベル化PDF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・代理店ロゴ・カラー反映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・経営層向け3行サマリ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6127" y="446227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💡 改修レコメンド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6127" y="4773168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・改修対象ページ提案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・JSON-LD/Schemaコード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・競合勝ちパターン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6127" y="5340096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🗂️ データエクスポート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6127" y="5650992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・CSV全データダウンロード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・API/MCPデータ取得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Yu Gothic"/>
                <a:rFonts eastAsia="Yu Gothic"/>
              </a:rPr>
              <a:t>・Looker/BigQuery連携(V2)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992727.5" y="3200400"/>
            <a:ext cx="365760.0" cy="0"/>
          </a:xfrm>
          <a:prstGeom prst="line">
            <a:avLst/>
          </a:prstGeom>
          <a:ln w="508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33207.5" y="3200400"/>
            <a:ext cx="365760.0" cy="0"/>
          </a:xfrm>
          <a:prstGeom prst="line">
            <a:avLst/>
          </a:prstGeom>
          <a:ln w="508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  <a:rFonts eastAsia="Yu Gothic"/>
              </a:rPr>
              <a:t>→ 結果: 年間1,500時間の手作業を100時間に圧縮、Citation Rate +25pt、AI経由パイプライン3倍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Yu Gothic"/>
                <a:rFonts eastAsia="Yu Gothic"/>
              </a:rPr>
              <a:t>AIOutmation 解説図シリーズ (4/5)  ─  作成: 2026年5月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88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  <a:rFonts eastAsia="Yu Gothic"/>
              </a:rPr>
              <a:t>⑤AIOピラミッド × AIOutmation機能 対応図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84048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  <a:rFonts eastAsia="Yu Gothic"/>
              </a:rPr>
              <a:t>概念視点: 瀧内本の体系をどう実装しているか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46020" y="914400"/>
            <a:ext cx="1508760" cy="905256"/>
          </a:xfrm>
          <a:prstGeom prst="rect">
            <a:avLst/>
          </a:prstGeom>
          <a:solidFill>
            <a:srgbClr val="FFE0E0"/>
          </a:solidFill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46020" y="914400"/>
            <a:ext cx="1508760" cy="54315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B03A2E"/>
                </a:solidFill>
                <a:latin typeface="Yu Gothic"/>
                <a:rFonts eastAsia="Yu Gothic"/>
              </a:rPr>
              <a:t>最上層: 運用層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6020" y="1367028"/>
            <a:ext cx="1508760" cy="4526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B03A2E"/>
                </a:solidFill>
                <a:latin typeface="Yu Gothic"/>
                <a:rFonts eastAsia="Yu Gothic"/>
              </a:rPr>
              <a:t>PDCA・運用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3100" y="1819656"/>
            <a:ext cx="2514600" cy="905256"/>
          </a:xfrm>
          <a:prstGeom prst="rect">
            <a:avLst/>
          </a:prstGeom>
          <a:solidFill>
            <a:srgbClr val="ECE0F4"/>
          </a:solidFill>
          <a:ln w="2540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3100" y="1819656"/>
            <a:ext cx="2514600" cy="54315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6B46A0"/>
                </a:solidFill>
                <a:latin typeface="Yu Gothic"/>
                <a:rFonts eastAsia="Yu Gothic"/>
              </a:rPr>
              <a:t>3層目: 学習対象化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100" y="2272284"/>
            <a:ext cx="2514600" cy="4526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6B46A0"/>
                </a:solidFill>
                <a:latin typeface="Yu Gothic"/>
                <a:rFonts eastAsia="Yu Gothic"/>
              </a:rPr>
              <a:t>LLMO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65910" y="2724912"/>
            <a:ext cx="3268980" cy="905256"/>
          </a:xfrm>
          <a:prstGeom prst="rect">
            <a:avLst/>
          </a:prstGeom>
          <a:solidFill>
            <a:srgbClr val="FFF4E0"/>
          </a:solidFill>
          <a:ln w="2540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5910" y="2724912"/>
            <a:ext cx="3268980" cy="54315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C96E29"/>
                </a:solidFill>
                <a:latin typeface="Yu Gothic"/>
                <a:rFonts eastAsia="Yu Gothic"/>
              </a:rPr>
              <a:t>2層目: 引用層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5910" y="3177540"/>
            <a:ext cx="3268980" cy="4526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C96E29"/>
                </a:solidFill>
                <a:latin typeface="Yu Gothic"/>
                <a:rFonts eastAsia="Yu Gothic"/>
              </a:rPr>
              <a:t>GEO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630168"/>
            <a:ext cx="4023360" cy="905256"/>
          </a:xfrm>
          <a:prstGeom prst="rect">
            <a:avLst/>
          </a:prstGeom>
          <a:solidFill>
            <a:srgbClr val="E8EEF7"/>
          </a:solidFill>
          <a:ln w="254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30168"/>
            <a:ext cx="4023360" cy="54315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5C8A"/>
                </a:solidFill>
                <a:latin typeface="Yu Gothic"/>
                <a:rFonts eastAsia="Yu Gothic"/>
              </a:rPr>
              <a:t>1層目: 理解層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82796"/>
            <a:ext cx="4023360" cy="4526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E5C8A"/>
                </a:solidFill>
                <a:latin typeface="Yu Gothic"/>
                <a:rFonts eastAsia="Yu Gothic"/>
              </a:rPr>
              <a:t>AEO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530" y="4535424"/>
            <a:ext cx="4777740" cy="905256"/>
          </a:xfrm>
          <a:prstGeom prst="rect">
            <a:avLst/>
          </a:prstGeom>
          <a:solidFill>
            <a:srgbClr val="E0F4E0"/>
          </a:solidFill>
          <a:ln w="2540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530" y="4535424"/>
            <a:ext cx="4777740" cy="54315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7A4E"/>
                </a:solidFill>
                <a:latin typeface="Yu Gothic"/>
                <a:rFonts eastAsia="Yu Gothic"/>
              </a:rPr>
              <a:t>土台: 基礎構造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30" y="4988052"/>
            <a:ext cx="4777740" cy="4526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E7A4E"/>
                </a:solidFill>
                <a:latin typeface="Yu Gothic"/>
                <a:rFonts eastAsia="Yu Gothic"/>
              </a:rPr>
              <a:t>SEO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914400"/>
            <a:ext cx="4572000" cy="868680"/>
          </a:xfrm>
          <a:prstGeom prst="roundRect">
            <a:avLst/>
          </a:prstGeom>
          <a:solidFill>
            <a:srgbClr val="FFE0E0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914400"/>
            <a:ext cx="4389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・F4: ダッシュボード+アラート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・F6: AIコメンタリー(3行サマリ)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・F5: 月次レポート自動生成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828800"/>
            <a:ext cx="4572000" cy="868680"/>
          </a:xfrm>
          <a:prstGeom prst="roundRect">
            <a:avLst/>
          </a:prstGeom>
          <a:solidFill>
            <a:srgbClr val="ECE0F4"/>
          </a:solidFill>
          <a:ln w="19050">
            <a:solidFill>
              <a:srgbClr val="6B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828800"/>
            <a:ext cx="4389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・F6拡張(V2): ROI物語AI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・V3: llms.txt自動生成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・F3: 継続的引用蓄積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743200"/>
            <a:ext cx="4572000" cy="868680"/>
          </a:xfrm>
          <a:prstGeom prst="roundRect">
            <a:avLst/>
          </a:prstGeom>
          <a:solidFill>
            <a:srgbClr val="FFF4E0"/>
          </a:solidFill>
          <a:ln w="19050">
            <a:solidFill>
              <a:srgbClr val="C96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743200"/>
            <a:ext cx="4389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・F3: 引用率測定エンジン ★中核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・F4: 競合分析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・F8(V2): Evidence/Reference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657600"/>
            <a:ext cx="4572000" cy="8686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57600"/>
            <a:ext cx="4389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・F2: プロンプト自動生成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・F8(V2): JSON-LD自動生成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・V3: 文章構成最適化AI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572000"/>
            <a:ext cx="4572000" cy="868680"/>
          </a:xfrm>
          <a:prstGeom prst="roundRect">
            <a:avLst/>
          </a:prstGeom>
          <a:solidFill>
            <a:srgbClr val="E0F4E0"/>
          </a:solidFill>
          <a:ln w="19050">
            <a:solidFill>
              <a:srgbClr val="2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572000"/>
            <a:ext cx="4389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・F7(V2): SEO×AIO監査エンジン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・F9(V2): CMS PR自動起票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Yu Gothic"/>
                <a:rFonts eastAsia="Yu Gothic"/>
              </a:rPr>
              <a:t>・Schema実装支援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4780.0" y="1367028.0"/>
            <a:ext cx="3360420.0" cy="4572.0"/>
          </a:xfrm>
          <a:prstGeom prst="line">
            <a:avLst/>
          </a:prstGeom>
          <a:ln w="19050">
            <a:solidFill>
              <a:srgbClr val="B0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57700.0" y="2272284.0"/>
            <a:ext cx="2857500.0" cy="13716.0"/>
          </a:xfrm>
          <a:prstGeom prst="line">
            <a:avLst/>
          </a:prstGeom>
          <a:ln w="19050">
            <a:solidFill>
              <a:srgbClr val="6B46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34890.0" y="3177540.0"/>
            <a:ext cx="2480310.0" cy="22860.0"/>
          </a:xfrm>
          <a:prstGeom prst="line">
            <a:avLst/>
          </a:prstGeom>
          <a:ln w="19050">
            <a:solidFill>
              <a:srgbClr val="C96E2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12080.0" y="4082796.0"/>
            <a:ext cx="2103120.0" cy="32004.0"/>
          </a:xfrm>
          <a:prstGeom prst="line">
            <a:avLst/>
          </a:prstGeom>
          <a:ln w="19050">
            <a:solidFill>
              <a:srgbClr val="2E5C8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89270.0" y="4988052.0"/>
            <a:ext cx="1725930.0" cy="41148.0"/>
          </a:xfrm>
          <a:prstGeom prst="line">
            <a:avLst/>
          </a:prstGeom>
          <a:ln w="19050">
            <a:solidFill>
              <a:srgbClr val="2E7A4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548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44444"/>
                </a:solidFill>
                <a:latin typeface="Yu Gothic"/>
                <a:rFonts eastAsia="Yu Gothic"/>
              </a:rPr>
              <a:t>AIOピラミッド (瀧内本)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486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44444"/>
                </a:solidFill>
                <a:latin typeface="Yu Gothic"/>
                <a:rFonts eastAsia="Yu Gothic"/>
              </a:rPr>
              <a:t>AIOutmation の対応機能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  <a:rFonts eastAsia="Yu Gothic"/>
              </a:rPr>
              <a:t>瀧内本「AIO教科書」が示す全層を、ソフトウェアで一気通貫に実装する世界初の統合プラットフォーム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Yu Gothic"/>
                <a:rFonts eastAsia="Yu Gothic"/>
              </a:rPr>
              <a:t>AIOutmation 解説図シリーズ (5/5)  ─  作成: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